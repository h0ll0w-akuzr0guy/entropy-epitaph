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2A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C8C8C0"/>
                </a:solidFill>
                <a:latin typeface="Microsoft YaHei"/>
                <a:ea typeface="Microsoft YaHei"/>
              </a:rPr>
              <a:t>熵逝碑林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2200" b="0" i="0">
                <a:solidFill>
                  <a:srgbClr val="8A7A5A"/>
                </a:solidFill>
                <a:latin typeface="Consolas"/>
                <a:ea typeface="Consolas"/>
              </a:rPr>
              <a:t>Entropy Epitaph</a:t>
            </a:r>
          </a:p>
          <a:p>
            <a:pPr algn="l">
              <a:spcBef>
                <a:spcPts val="2200"/>
              </a:spcBef>
              <a:spcAft>
                <a:spcPts val="600"/>
              </a:spcAft>
            </a:pPr>
            <a:r>
              <a:rPr sz="2000" b="0" i="0">
                <a:solidFill>
                  <a:srgbClr val="C8C8C0"/>
                </a:solidFill>
                <a:latin typeface="Microsoft YaHei"/>
                <a:ea typeface="Microsoft YaHei"/>
              </a:rPr>
              <a:t>万物终将风化，连遗忘本身也会被遗忘。</a:t>
            </a:r>
          </a:p>
          <a:p>
            <a:pPr algn="l">
              <a:spcBef>
                <a:spcPts val="400"/>
              </a:spcBef>
              <a:spcAft>
                <a:spcPts val="600"/>
              </a:spcAft>
            </a:pPr>
            <a:r>
              <a:rPr sz="1400" b="0" i="0">
                <a:solidFill>
                  <a:srgbClr val="7A7A70"/>
                </a:solidFill>
                <a:latin typeface="Consolas"/>
                <a:ea typeface="Consolas"/>
              </a:rPr>
              <a:t>Everything decays. Even the memory of forgetting.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7A7A70"/>
                </a:solidFill>
                <a:latin typeface="Microsoft YaHei"/>
                <a:ea typeface="Microsoft YaHei"/>
              </a:rPr>
              <a:t>一座所有事物都会消亡的数字墓园 · A digital graveyard where everything decays</a:t>
            </a:r>
          </a:p>
          <a:p>
            <a:pPr algn="l">
              <a:spcBef>
                <a:spcPts val="800"/>
              </a:spcBef>
              <a:spcAft>
                <a:spcPts val="600"/>
              </a:spcAft>
            </a:pPr>
            <a:r>
              <a:rPr sz="1200" b="0" i="0">
                <a:solidFill>
                  <a:srgbClr val="00C83A"/>
                </a:solidFill>
                <a:latin typeface="Consolas"/>
                <a:ea typeface="Consolas"/>
              </a:rPr>
              <a:t>在线演示 Live Demo:  h0ll0w-akuzr0guy.github.io/entropy-epitaph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822960" cy="50800"/>
          </a:xfrm>
          <a:prstGeom prst="rect">
            <a:avLst/>
          </a:prstGeom>
          <a:solidFill>
            <a:srgbClr val="8A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8A7A5A"/>
                </a:solidFill>
                <a:latin typeface="Consolas"/>
                <a:ea typeface="Consolas"/>
              </a:rPr>
              <a:t>01  PROBLEM · 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C8C8C0"/>
                </a:solidFill>
                <a:latin typeface="Microsoft YaHei"/>
                <a:ea typeface="Microsoft YaHei"/>
              </a:rPr>
              <a:t>互联网只会保存，不会告别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400" b="0" i="0">
                <a:solidFill>
                  <a:srgbClr val="7A7A70"/>
                </a:solidFill>
                <a:latin typeface="Consolas"/>
                <a:ea typeface="Consolas"/>
              </a:rPr>
              <a:t>The internet only saves. It never says goodbye.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5486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C8C8C0"/>
                </a:solidFill>
                <a:latin typeface="Microsoft YaHei"/>
                <a:ea typeface="Microsoft YaHei"/>
              </a:rPr>
              <a:t>所有产品的默认价值观是永久保存：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400" b="0" i="0">
                <a:solidFill>
                  <a:srgbClr val="7A7A70"/>
                </a:solidFill>
                <a:latin typeface="Microsoft YaHei"/>
                <a:ea typeface="Microsoft YaHei"/>
              </a:rPr>
              <a:t>—  云端备份 · Cloud backup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400" b="0" i="0">
                <a:solidFill>
                  <a:srgbClr val="7A7A70"/>
                </a:solidFill>
                <a:latin typeface="Microsoft YaHei"/>
                <a:ea typeface="Microsoft YaHei"/>
              </a:rPr>
              <a:t>—  无限历史 · Infinite history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400" b="0" i="0">
                <a:solidFill>
                  <a:srgbClr val="7A7A70"/>
                </a:solidFill>
                <a:latin typeface="Microsoft YaHei"/>
                <a:ea typeface="Microsoft YaHei"/>
              </a:rPr>
              <a:t>—  永不丢失 · Never lose a byte</a:t>
            </a:r>
          </a:p>
          <a:p>
            <a:pPr algn="l">
              <a:spcBef>
                <a:spcPts val="2000"/>
              </a:spcBef>
              <a:spcAft>
                <a:spcPts val="600"/>
              </a:spcAft>
            </a:pPr>
            <a:r>
              <a:rPr sz="1500" b="0" i="0">
                <a:solidFill>
                  <a:srgbClr val="C8C8C0"/>
                </a:solidFill>
                <a:latin typeface="Microsoft YaHei"/>
                <a:ea typeface="Microsoft YaHei"/>
              </a:rPr>
              <a:t>它解决了数据遗失，却拿走了「结束」的空间。</a:t>
            </a:r>
          </a:p>
          <a:p>
            <a:pPr algn="l">
              <a:spcBef>
                <a:spcPts val="800"/>
              </a:spcBef>
              <a:spcAft>
                <a:spcPts val="600"/>
              </a:spcAft>
            </a:pPr>
            <a:r>
              <a:rPr sz="1300" b="0" i="0">
                <a:solidFill>
                  <a:srgbClr val="7A7A70"/>
                </a:solidFill>
                <a:latin typeface="Microsoft YaHei"/>
                <a:ea typeface="Microsoft YaHei"/>
              </a:rPr>
              <a:t>废弃代码、结束的关系、失效链接、放弃的梦想——长期堆积，既没被使用，也没被真正放下。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2286000"/>
            <a:ext cx="5212080" cy="3291840"/>
          </a:xfrm>
          <a:prstGeom prst="rect">
            <a:avLst/>
          </a:prstGeom>
          <a:solidFill>
            <a:srgbClr val="1E1E1C"/>
          </a:solidFill>
          <a:ln w="9525">
            <a:solidFill>
              <a:srgbClr val="2A2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0" y="2651760"/>
            <a:ext cx="4572000" cy="2651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C8C8C0"/>
                </a:solidFill>
                <a:latin typeface="Microsoft YaHei"/>
                <a:ea typeface="Microsoft YaHei"/>
              </a:rPr>
              <a:t>“删除只在一瞬间，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2000" b="1" i="0">
                <a:solidFill>
                  <a:srgbClr val="C8C8C0"/>
                </a:solidFill>
                <a:latin typeface="Microsoft YaHei"/>
                <a:ea typeface="Microsoft YaHei"/>
              </a:rPr>
              <a:t>  永久保存则拒绝结束。”</a:t>
            </a:r>
          </a:p>
          <a:p>
            <a:pPr algn="l">
              <a:spcBef>
                <a:spcPts val="1600"/>
              </a:spcBef>
              <a:spcAft>
                <a:spcPts val="600"/>
              </a:spcAft>
            </a:pPr>
            <a:r>
              <a:rPr sz="1300" b="0" i="0">
                <a:solidFill>
                  <a:srgbClr val="7A7A70"/>
                </a:solidFill>
                <a:latin typeface="Consolas"/>
                <a:ea typeface="Consolas"/>
              </a:rPr>
              <a:t>Deletion is instant. Permanence refuses closure.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5A4A"/>
                </a:solidFill>
                <a:latin typeface="Consolas"/>
                <a:ea typeface="Consolas"/>
              </a:rPr>
              <a:t>熵逝碑林 · Entropy Epitaph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0080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5A4A"/>
                </a:solidFill>
                <a:latin typeface="Consolas"/>
                <a:ea typeface="Consola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822960" cy="50800"/>
          </a:xfrm>
          <a:prstGeom prst="rect">
            <a:avLst/>
          </a:prstGeom>
          <a:solidFill>
            <a:srgbClr val="8A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8A7A5A"/>
                </a:solidFill>
                <a:latin typeface="Consolas"/>
                <a:ea typeface="Consolas"/>
              </a:rPr>
              <a:t>02  INSIGHT · 反常识洞察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C8C8C0"/>
                </a:solidFill>
                <a:latin typeface="Microsoft YaHei"/>
                <a:ea typeface="Microsoft YaHei"/>
              </a:rPr>
              <a:t>我们做唯一的反面：一切必然消逝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400" b="0" i="0">
                <a:solidFill>
                  <a:srgbClr val="7A7A70"/>
                </a:solidFill>
                <a:latin typeface="Consolas"/>
                <a:ea typeface="Consolas"/>
              </a:rPr>
              <a:t>The contrarian bet: everything must fade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77440"/>
            <a:ext cx="5212080" cy="3200400"/>
          </a:xfrm>
          <a:prstGeom prst="rect">
            <a:avLst/>
          </a:prstGeom>
          <a:solidFill>
            <a:srgbClr val="1E1E1C"/>
          </a:solidFill>
          <a:ln w="9525">
            <a:solidFill>
              <a:srgbClr val="2A2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45720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7A7A70"/>
                </a:solidFill>
                <a:latin typeface="Microsoft YaHei"/>
                <a:ea typeface="Microsoft YaHei"/>
              </a:rPr>
              <a:t>所有其他产品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7A7A70"/>
                </a:solidFill>
                <a:latin typeface="Consolas"/>
                <a:ea typeface="Consolas"/>
              </a:rPr>
              <a:t>Every other product</a:t>
            </a:r>
          </a:p>
          <a:p>
            <a:pPr algn="l">
              <a:spcBef>
                <a:spcPts val="800"/>
              </a:spcBef>
              <a:spcAft>
                <a:spcPts val="600"/>
              </a:spcAft>
            </a:pPr>
            <a:r>
              <a:rPr sz="1400" b="0" i="0">
                <a:solidFill>
                  <a:srgbClr val="5A5A4A"/>
                </a:solidFill>
                <a:latin typeface="Microsoft YaHei"/>
                <a:ea typeface="Microsoft YaHei"/>
              </a:rPr>
              <a:t>✕  永久保存 Store forever</a:t>
            </a:r>
          </a:p>
          <a:p>
            <a:pPr algn="l">
              <a:spcBef>
                <a:spcPts val="800"/>
              </a:spcBef>
              <a:spcAft>
                <a:spcPts val="600"/>
              </a:spcAft>
            </a:pPr>
            <a:r>
              <a:rPr sz="1400" b="0" i="0">
                <a:solidFill>
                  <a:srgbClr val="5A5A4A"/>
                </a:solidFill>
                <a:latin typeface="Microsoft YaHei"/>
                <a:ea typeface="Microsoft YaHei"/>
              </a:rPr>
              <a:t>✕  云端备份 Cloud backup</a:t>
            </a:r>
          </a:p>
          <a:p>
            <a:pPr algn="l">
              <a:spcBef>
                <a:spcPts val="800"/>
              </a:spcBef>
              <a:spcAft>
                <a:spcPts val="600"/>
              </a:spcAft>
            </a:pPr>
            <a:r>
              <a:rPr sz="1400" b="0" i="0">
                <a:solidFill>
                  <a:srgbClr val="5A5A4A"/>
                </a:solidFill>
                <a:latin typeface="Microsoft YaHei"/>
                <a:ea typeface="Microsoft YaHei"/>
              </a:rPr>
              <a:t>✕  永不丢失 Never lose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2377440"/>
            <a:ext cx="5212080" cy="3200400"/>
          </a:xfrm>
          <a:prstGeom prst="rect">
            <a:avLst/>
          </a:prstGeom>
          <a:solidFill>
            <a:srgbClr val="1E1E1C"/>
          </a:solidFill>
          <a:ln w="9525">
            <a:solidFill>
              <a:srgbClr val="8A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2651760"/>
            <a:ext cx="45720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C8C8C0"/>
                </a:solidFill>
                <a:latin typeface="Microsoft YaHei"/>
                <a:ea typeface="Microsoft YaHei"/>
              </a:rPr>
              <a:t>熵逝碑林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8A7A5A"/>
                </a:solidFill>
                <a:latin typeface="Consolas"/>
                <a:ea typeface="Consolas"/>
              </a:rPr>
              <a:t>Entropy Epitaph</a:t>
            </a:r>
          </a:p>
          <a:p>
            <a:pPr algn="l">
              <a:spcBef>
                <a:spcPts val="800"/>
              </a:spcBef>
              <a:spcAft>
                <a:spcPts val="600"/>
              </a:spcAft>
            </a:pPr>
            <a:r>
              <a:rPr sz="1400" b="0" i="0">
                <a:solidFill>
                  <a:srgbClr val="C8C8C0"/>
                </a:solidFill>
                <a:latin typeface="Microsoft YaHei"/>
                <a:ea typeface="Microsoft YaHei"/>
              </a:rPr>
              <a:t>●  必然消逝 Everything fades</a:t>
            </a:r>
          </a:p>
          <a:p>
            <a:pPr algn="l">
              <a:spcBef>
                <a:spcPts val="800"/>
              </a:spcBef>
              <a:spcAft>
                <a:spcPts val="600"/>
              </a:spcAft>
            </a:pPr>
            <a:r>
              <a:rPr sz="1400" b="0" i="0">
                <a:solidFill>
                  <a:srgbClr val="C8C8C0"/>
                </a:solidFill>
                <a:latin typeface="Microsoft YaHei"/>
                <a:ea typeface="Microsoft YaHei"/>
              </a:rPr>
              <a:t>●  无法逆转 One-way entropy</a:t>
            </a:r>
          </a:p>
          <a:p>
            <a:pPr algn="l">
              <a:spcBef>
                <a:spcPts val="800"/>
              </a:spcBef>
              <a:spcAft>
                <a:spcPts val="600"/>
              </a:spcAft>
            </a:pPr>
            <a:r>
              <a:rPr sz="1400" b="0" i="0">
                <a:solidFill>
                  <a:srgbClr val="C8C8C0"/>
                </a:solidFill>
                <a:latin typeface="Microsoft YaHei"/>
                <a:ea typeface="Microsoft YaHei"/>
              </a:rPr>
              <a:t>●  连证明也会消失 Even the proof dies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0" y="356616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5A5A4A"/>
                </a:solidFill>
                <a:latin typeface="Microsoft YaHei"/>
                <a:ea typeface="Microsoft YaHei"/>
              </a:rPr>
              <a:t>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5A4A"/>
                </a:solidFill>
                <a:latin typeface="Consolas"/>
                <a:ea typeface="Consolas"/>
              </a:rPr>
              <a:t>熵逝碑林 · Entropy Epitaph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40080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5A4A"/>
                </a:solidFill>
                <a:latin typeface="Consolas"/>
                <a:ea typeface="Consola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822960" cy="50800"/>
          </a:xfrm>
          <a:prstGeom prst="rect">
            <a:avLst/>
          </a:prstGeom>
          <a:solidFill>
            <a:srgbClr val="8A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8A7A5A"/>
                </a:solidFill>
                <a:latin typeface="Consolas"/>
                <a:ea typeface="Consolas"/>
              </a:rPr>
              <a:t>03  HOW IT WORKS · 熵增闭环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C8C8C0"/>
                </a:solidFill>
                <a:latin typeface="Microsoft YaHei"/>
                <a:ea typeface="Microsoft YaHei"/>
              </a:rPr>
              <a:t>立碑 → 风化 → 擦拭 → 寂灭 → 遗忘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400" b="0" i="0">
                <a:solidFill>
                  <a:srgbClr val="7A7A70"/>
                </a:solidFill>
                <a:latin typeface="Consolas"/>
                <a:ea typeface="Consolas"/>
              </a:rPr>
              <a:t>Erect → Decay → Delay → Vanish → Forget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68880"/>
            <a:ext cx="2029968" cy="2834640"/>
          </a:xfrm>
          <a:prstGeom prst="rect">
            <a:avLst/>
          </a:prstGeom>
          <a:solidFill>
            <a:srgbClr val="1E1E1C"/>
          </a:solidFill>
          <a:ln w="9525">
            <a:solidFill>
              <a:srgbClr val="2A2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697480"/>
            <a:ext cx="1700784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8A7A5A"/>
                </a:solidFill>
                <a:latin typeface="Consolas"/>
                <a:ea typeface="Consolas"/>
              </a:rPr>
              <a:t>1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2000" b="1" i="0">
                <a:solidFill>
                  <a:srgbClr val="C8C8C0"/>
                </a:solidFill>
                <a:latin typeface="Microsoft YaHei"/>
                <a:ea typeface="Microsoft YaHei"/>
              </a:rPr>
              <a:t>立碑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7A7A70"/>
                </a:solidFill>
                <a:latin typeface="Consolas"/>
                <a:ea typeface="Consolas"/>
              </a:rPr>
              <a:t>Erect</a:t>
            </a:r>
          </a:p>
          <a:p>
            <a:pPr algn="l">
              <a:spcBef>
                <a:spcPts val="1000"/>
              </a:spcBef>
              <a:spcAft>
                <a:spcPts val="600"/>
              </a:spcAft>
            </a:pPr>
            <a:r>
              <a:rPr sz="1100" b="0" i="0">
                <a:solidFill>
                  <a:srgbClr val="7A7A70"/>
                </a:solidFill>
                <a:latin typeface="Microsoft YaHei"/>
                <a:ea typeface="Microsoft YaHei"/>
              </a:rPr>
              <a:t>为任何死去的数字之物立碑</a:t>
            </a:r>
          </a:p>
        </p:txBody>
      </p:sp>
      <p:sp>
        <p:nvSpPr>
          <p:cNvPr id="8" name="Rectangle 7"/>
          <p:cNvSpPr/>
          <p:nvPr/>
        </p:nvSpPr>
        <p:spPr>
          <a:xfrm>
            <a:off x="2807208" y="2468880"/>
            <a:ext cx="2029968" cy="2834640"/>
          </a:xfrm>
          <a:prstGeom prst="rect">
            <a:avLst/>
          </a:prstGeom>
          <a:solidFill>
            <a:srgbClr val="1E1E1C"/>
          </a:solidFill>
          <a:ln w="9525">
            <a:solidFill>
              <a:srgbClr val="2A2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2697480"/>
            <a:ext cx="1700784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8A7A5A"/>
                </a:solidFill>
                <a:latin typeface="Consolas"/>
                <a:ea typeface="Consolas"/>
              </a:rPr>
              <a:t>2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2000" b="1" i="0">
                <a:solidFill>
                  <a:srgbClr val="C8C8C0"/>
                </a:solidFill>
                <a:latin typeface="Microsoft YaHei"/>
                <a:ea typeface="Microsoft YaHei"/>
              </a:rPr>
              <a:t>风化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7A7A70"/>
                </a:solidFill>
                <a:latin typeface="Consolas"/>
                <a:ea typeface="Consolas"/>
              </a:rPr>
              <a:t>Decay</a:t>
            </a:r>
          </a:p>
          <a:p>
            <a:pPr algn="l">
              <a:spcBef>
                <a:spcPts val="1000"/>
              </a:spcBef>
              <a:spcAft>
                <a:spcPts val="600"/>
              </a:spcAft>
            </a:pPr>
            <a:r>
              <a:rPr sz="1100" b="0" i="0">
                <a:solidFill>
                  <a:srgbClr val="7A7A70"/>
                </a:solidFill>
                <a:latin typeface="Microsoft YaHei"/>
                <a:ea typeface="Microsoft YaHei"/>
              </a:rPr>
              <a:t>按真实时间持续衰变，含随机扰动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65776" y="2468880"/>
            <a:ext cx="2029968" cy="2834640"/>
          </a:xfrm>
          <a:prstGeom prst="rect">
            <a:avLst/>
          </a:prstGeom>
          <a:solidFill>
            <a:srgbClr val="1E1E1C"/>
          </a:solidFill>
          <a:ln w="9525">
            <a:solidFill>
              <a:srgbClr val="2A2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0368" y="2697480"/>
            <a:ext cx="1700784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8A7A5A"/>
                </a:solidFill>
                <a:latin typeface="Consolas"/>
                <a:ea typeface="Consolas"/>
              </a:rPr>
              <a:t>3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2000" b="1" i="0">
                <a:solidFill>
                  <a:srgbClr val="C8C8C0"/>
                </a:solidFill>
                <a:latin typeface="Microsoft YaHei"/>
                <a:ea typeface="Microsoft YaHei"/>
              </a:rPr>
              <a:t>擦拭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7A7A70"/>
                </a:solidFill>
                <a:latin typeface="Consolas"/>
                <a:ea typeface="Consolas"/>
              </a:rPr>
              <a:t>Delay</a:t>
            </a:r>
          </a:p>
          <a:p>
            <a:pPr algn="l">
              <a:spcBef>
                <a:spcPts val="1000"/>
              </a:spcBef>
              <a:spcAft>
                <a:spcPts val="600"/>
              </a:spcAft>
            </a:pPr>
            <a:r>
              <a:rPr sz="1100" b="0" i="0">
                <a:solidFill>
                  <a:srgbClr val="7A7A70"/>
                </a:solidFill>
                <a:latin typeface="Microsoft YaHei"/>
                <a:ea typeface="Microsoft YaHei"/>
              </a:rPr>
              <a:t>每天一次，越到后期越无力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24344" y="2468880"/>
            <a:ext cx="2029968" cy="2834640"/>
          </a:xfrm>
          <a:prstGeom prst="rect">
            <a:avLst/>
          </a:prstGeom>
          <a:solidFill>
            <a:srgbClr val="1E1E1C"/>
          </a:solidFill>
          <a:ln w="9525">
            <a:solidFill>
              <a:srgbClr val="2A2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88936" y="2697480"/>
            <a:ext cx="1700784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8A7A5A"/>
                </a:solidFill>
                <a:latin typeface="Consolas"/>
                <a:ea typeface="Consolas"/>
              </a:rPr>
              <a:t>4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2000" b="1" i="0">
                <a:solidFill>
                  <a:srgbClr val="C8C8C0"/>
                </a:solidFill>
                <a:latin typeface="Microsoft YaHei"/>
                <a:ea typeface="Microsoft YaHei"/>
              </a:rPr>
              <a:t>寂灭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7A7A70"/>
                </a:solidFill>
                <a:latin typeface="Consolas"/>
                <a:ea typeface="Consolas"/>
              </a:rPr>
              <a:t>Vanish</a:t>
            </a:r>
          </a:p>
          <a:p>
            <a:pPr algn="l">
              <a:spcBef>
                <a:spcPts val="1000"/>
              </a:spcBef>
              <a:spcAft>
                <a:spcPts val="600"/>
              </a:spcAft>
            </a:pPr>
            <a:r>
              <a:rPr sz="1100" b="0" i="0">
                <a:solidFill>
                  <a:srgbClr val="7A7A70"/>
                </a:solidFill>
                <a:latin typeface="Microsoft YaHei"/>
                <a:ea typeface="Microsoft YaHei"/>
              </a:rPr>
              <a:t>碑体崩塌，生成唯一消逝凭证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582912" y="2468880"/>
            <a:ext cx="2029968" cy="2834640"/>
          </a:xfrm>
          <a:prstGeom prst="rect">
            <a:avLst/>
          </a:prstGeom>
          <a:solidFill>
            <a:srgbClr val="1E1E1C"/>
          </a:solidFill>
          <a:ln w="9525">
            <a:solidFill>
              <a:srgbClr val="8A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47504" y="2697480"/>
            <a:ext cx="1700784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8A7A5A"/>
                </a:solidFill>
                <a:latin typeface="Consolas"/>
                <a:ea typeface="Consolas"/>
              </a:rPr>
              <a:t>5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2000" b="1" i="0">
                <a:solidFill>
                  <a:srgbClr val="C8C8C0"/>
                </a:solidFill>
                <a:latin typeface="Microsoft YaHei"/>
                <a:ea typeface="Microsoft YaHei"/>
              </a:rPr>
              <a:t>遗忘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7A7A70"/>
                </a:solidFill>
                <a:latin typeface="Consolas"/>
                <a:ea typeface="Consolas"/>
              </a:rPr>
              <a:t>Forget</a:t>
            </a:r>
          </a:p>
          <a:p>
            <a:pPr algn="l">
              <a:spcBef>
                <a:spcPts val="1000"/>
              </a:spcBef>
              <a:spcAft>
                <a:spcPts val="600"/>
              </a:spcAft>
            </a:pPr>
            <a:r>
              <a:rPr sz="1100" b="0" i="0">
                <a:solidFill>
                  <a:srgbClr val="7A7A70"/>
                </a:solidFill>
                <a:latin typeface="Microsoft YaHei"/>
                <a:ea typeface="Microsoft YaHei"/>
              </a:rPr>
              <a:t>凭证继续熵增，终从档案消失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5A4A"/>
                </a:solidFill>
                <a:latin typeface="Consolas"/>
                <a:ea typeface="Consolas"/>
              </a:rPr>
              <a:t>熵逝碑林 · Entropy Epitaph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0" y="640080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5A4A"/>
                </a:solidFill>
                <a:latin typeface="Consolas"/>
                <a:ea typeface="Consola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822960" cy="50800"/>
          </a:xfrm>
          <a:prstGeom prst="rect">
            <a:avLst/>
          </a:prstGeom>
          <a:solidFill>
            <a:srgbClr val="8A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8A7A5A"/>
                </a:solidFill>
                <a:latin typeface="Consolas"/>
                <a:ea typeface="Consolas"/>
              </a:rPr>
              <a:t>04  CONTENT · 四类墓碑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C8C8C0"/>
                </a:solidFill>
                <a:latin typeface="Microsoft YaHei"/>
                <a:ea typeface="Microsoft YaHei"/>
              </a:rPr>
              <a:t>为任何「死去」的数字之物立碑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400" b="0" i="0">
                <a:solidFill>
                  <a:srgbClr val="7A7A70"/>
                </a:solidFill>
                <a:latin typeface="Consolas"/>
                <a:ea typeface="Consolas"/>
              </a:rPr>
              <a:t>A tombstone for any dead digital thing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5349240" cy="1783080"/>
          </a:xfrm>
          <a:prstGeom prst="rect">
            <a:avLst/>
          </a:prstGeom>
          <a:solidFill>
            <a:srgbClr val="1E1E1C"/>
          </a:solidFill>
          <a:ln w="9525">
            <a:solidFill>
              <a:srgbClr val="2A2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532888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C8C8C0"/>
                </a:solidFill>
                <a:latin typeface="Microsoft YaHei"/>
                <a:ea typeface="Microsoft YaHei"/>
              </a:rPr>
              <a:t>代码碑 Code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200" b="0" i="0">
                <a:solidFill>
                  <a:srgbClr val="7A7A70"/>
                </a:solidFill>
                <a:latin typeface="Microsoft YaHei"/>
                <a:ea typeface="Microsoft YaHei"/>
              </a:rPr>
              <a:t>纪念 废弃项目、分支、夭折需求</a:t>
            </a:r>
          </a:p>
          <a:p>
            <a:pPr algn="l">
              <a:spcBef>
                <a:spcPts val="400"/>
              </a:spcBef>
              <a:spcAft>
                <a:spcPts val="600"/>
              </a:spcAft>
            </a:pPr>
            <a:r>
              <a:rPr sz="1100" b="0" i="0">
                <a:solidFill>
                  <a:srgbClr val="5A5A4A"/>
                </a:solidFill>
                <a:latin typeface="Consolas"/>
                <a:ea typeface="Consolas"/>
              </a:rPr>
              <a:t>衰变 变量错位 → 注释消失 → 字符碎片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331720"/>
            <a:ext cx="5349240" cy="1783080"/>
          </a:xfrm>
          <a:prstGeom prst="rect">
            <a:avLst/>
          </a:prstGeom>
          <a:solidFill>
            <a:srgbClr val="1E1E1C"/>
          </a:solidFill>
          <a:ln w="9525">
            <a:solidFill>
              <a:srgbClr val="2A2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2532888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C8C8C0"/>
                </a:solidFill>
                <a:latin typeface="Microsoft YaHei"/>
                <a:ea typeface="Microsoft YaHei"/>
              </a:rPr>
              <a:t>遗物碑 Relic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200" b="0" i="0">
                <a:solidFill>
                  <a:srgbClr val="7A7A70"/>
                </a:solidFill>
                <a:latin typeface="Microsoft YaHei"/>
                <a:ea typeface="Microsoft YaHei"/>
              </a:rPr>
              <a:t>纪念 关系、梦想、未说出口的话</a:t>
            </a:r>
          </a:p>
          <a:p>
            <a:pPr algn="l">
              <a:spcBef>
                <a:spcPts val="400"/>
              </a:spcBef>
              <a:spcAft>
                <a:spcPts val="600"/>
              </a:spcAft>
            </a:pPr>
            <a:r>
              <a:rPr sz="1100" b="0" i="0">
                <a:solidFill>
                  <a:srgbClr val="5A5A4A"/>
                </a:solidFill>
                <a:latin typeface="Consolas"/>
                <a:ea typeface="Consolas"/>
              </a:rPr>
              <a:t>衰变 细节模糊 → 段落错乱 → 情绪残影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343400"/>
            <a:ext cx="5349240" cy="1783080"/>
          </a:xfrm>
          <a:prstGeom prst="rect">
            <a:avLst/>
          </a:prstGeom>
          <a:solidFill>
            <a:srgbClr val="1E1E1C"/>
          </a:solidFill>
          <a:ln w="9525">
            <a:solidFill>
              <a:srgbClr val="2A2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544568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C8C8C0"/>
                </a:solidFill>
                <a:latin typeface="Microsoft YaHei"/>
                <a:ea typeface="Microsoft YaHei"/>
              </a:rPr>
              <a:t>链接碑 Link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200" b="0" i="0">
                <a:solidFill>
                  <a:srgbClr val="7A7A70"/>
                </a:solidFill>
                <a:latin typeface="Microsoft YaHei"/>
                <a:ea typeface="Microsoft YaHei"/>
              </a:rPr>
              <a:t>纪念 404 网站、失效链接、死博客</a:t>
            </a:r>
          </a:p>
          <a:p>
            <a:pPr algn="l">
              <a:spcBef>
                <a:spcPts val="400"/>
              </a:spcBef>
              <a:spcAft>
                <a:spcPts val="600"/>
              </a:spcAft>
            </a:pPr>
            <a:r>
              <a:rPr sz="1100" b="0" i="0">
                <a:solidFill>
                  <a:srgbClr val="5A5A4A"/>
                </a:solidFill>
                <a:latin typeface="Consolas"/>
                <a:ea typeface="Consolas"/>
              </a:rPr>
              <a:t>衰变 捕获最后快照 → 看它逐渐破碎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4343400"/>
            <a:ext cx="5349240" cy="1783080"/>
          </a:xfrm>
          <a:prstGeom prst="rect">
            <a:avLst/>
          </a:prstGeom>
          <a:solidFill>
            <a:srgbClr val="1E1E1C"/>
          </a:solidFill>
          <a:ln w="9525">
            <a:solidFill>
              <a:srgbClr val="2A2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4544568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C8C8C0"/>
                </a:solidFill>
                <a:latin typeface="Microsoft YaHei"/>
                <a:ea typeface="Microsoft YaHei"/>
              </a:rPr>
              <a:t>无名碑 Nameless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200" b="0" i="0">
                <a:solidFill>
                  <a:srgbClr val="7A7A70"/>
                </a:solidFill>
                <a:latin typeface="Microsoft YaHei"/>
                <a:ea typeface="Microsoft YaHei"/>
              </a:rPr>
              <a:t>纪念 不愿说明的事物</a:t>
            </a:r>
          </a:p>
          <a:p>
            <a:pPr algn="l">
              <a:spcBef>
                <a:spcPts val="400"/>
              </a:spcBef>
              <a:spcAft>
                <a:spcPts val="600"/>
              </a:spcAft>
            </a:pPr>
            <a:r>
              <a:rPr sz="1100" b="0" i="0">
                <a:solidFill>
                  <a:srgbClr val="5A5A4A"/>
                </a:solidFill>
                <a:latin typeface="Consolas"/>
                <a:ea typeface="Consolas"/>
              </a:rPr>
              <a:t>衰变 没有正文 → 以沉默完成风化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5A4A"/>
                </a:solidFill>
                <a:latin typeface="Consolas"/>
                <a:ea typeface="Consolas"/>
              </a:rPr>
              <a:t>熵逝碑林 · Entropy Epitaph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0080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5A4A"/>
                </a:solidFill>
                <a:latin typeface="Consolas"/>
                <a:ea typeface="Consola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822960" cy="50800"/>
          </a:xfrm>
          <a:prstGeom prst="rect">
            <a:avLst/>
          </a:prstGeom>
          <a:solidFill>
            <a:srgbClr val="8A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8A7A5A"/>
                </a:solidFill>
                <a:latin typeface="Consolas"/>
                <a:ea typeface="Consolas"/>
              </a:rPr>
              <a:t>05  DECAY · 五个衰变阶段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C8C8C0"/>
                </a:solidFill>
                <a:latin typeface="Microsoft YaHei"/>
                <a:ea typeface="Microsoft YaHei"/>
              </a:rPr>
              <a:t>内容与载体同步损坏，三种风格锁定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400" b="0" i="0">
                <a:solidFill>
                  <a:srgbClr val="7A7A70"/>
                </a:solidFill>
                <a:latin typeface="Consolas"/>
                <a:ea typeface="Consolas"/>
              </a:rPr>
              <a:t>Content and medium decay together; style is locked at birth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23160"/>
            <a:ext cx="2051913" cy="1828800"/>
          </a:xfrm>
          <a:prstGeom prst="rect">
            <a:avLst/>
          </a:prstGeom>
          <a:solidFill>
            <a:srgbClr val="1E1E1C"/>
          </a:solidFill>
          <a:ln w="9525">
            <a:solidFill>
              <a:srgbClr val="2A2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926080"/>
            <a:ext cx="2051913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C8C8C0"/>
                </a:solidFill>
                <a:latin typeface="Microsoft YaHei"/>
                <a:ea typeface="Microsoft YaHei"/>
              </a:rPr>
              <a:t>崭新期</a:t>
            </a:r>
          </a:p>
          <a:p>
            <a:pPr algn="ctr">
              <a:spcBef>
                <a:spcPts val="600"/>
              </a:spcBef>
              <a:spcAft>
                <a:spcPts val="600"/>
              </a:spcAft>
            </a:pPr>
            <a:r>
              <a:rPr sz="1100" b="0" i="0">
                <a:solidFill>
                  <a:srgbClr val="7A7A70"/>
                </a:solidFill>
                <a:latin typeface="Consolas"/>
                <a:ea typeface="Consolas"/>
              </a:rPr>
              <a:t>0 – .20</a:t>
            </a:r>
          </a:p>
        </p:txBody>
      </p:sp>
      <p:sp>
        <p:nvSpPr>
          <p:cNvPr id="8" name="Rectangle 7"/>
          <p:cNvSpPr/>
          <p:nvPr/>
        </p:nvSpPr>
        <p:spPr>
          <a:xfrm>
            <a:off x="2801721" y="2423160"/>
            <a:ext cx="2051913" cy="1828800"/>
          </a:xfrm>
          <a:prstGeom prst="rect">
            <a:avLst/>
          </a:prstGeom>
          <a:solidFill>
            <a:srgbClr val="1E1E1C"/>
          </a:solidFill>
          <a:ln w="9525">
            <a:solidFill>
              <a:srgbClr val="2A2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01721" y="2926080"/>
            <a:ext cx="2051913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A8A89A"/>
                </a:solidFill>
                <a:latin typeface="Microsoft YaHei"/>
                <a:ea typeface="Microsoft YaHei"/>
              </a:rPr>
              <a:t>风化期</a:t>
            </a:r>
          </a:p>
          <a:p>
            <a:pPr algn="ctr">
              <a:spcBef>
                <a:spcPts val="600"/>
              </a:spcBef>
              <a:spcAft>
                <a:spcPts val="600"/>
              </a:spcAft>
            </a:pPr>
            <a:r>
              <a:rPr sz="1100" b="0" i="0">
                <a:solidFill>
                  <a:srgbClr val="7A7A70"/>
                </a:solidFill>
                <a:latin typeface="Consolas"/>
                <a:ea typeface="Consolas"/>
              </a:rPr>
              <a:t>.20 – .45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54802" y="2423160"/>
            <a:ext cx="2051913" cy="1828800"/>
          </a:xfrm>
          <a:prstGeom prst="rect">
            <a:avLst/>
          </a:prstGeom>
          <a:solidFill>
            <a:srgbClr val="1E1E1C"/>
          </a:solidFill>
          <a:ln w="9525">
            <a:solidFill>
              <a:srgbClr val="2A2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54802" y="2926080"/>
            <a:ext cx="2051913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7A7A70"/>
                </a:solidFill>
                <a:latin typeface="Microsoft YaHei"/>
                <a:ea typeface="Microsoft YaHei"/>
              </a:rPr>
              <a:t>锈蚀期</a:t>
            </a:r>
          </a:p>
          <a:p>
            <a:pPr algn="ctr">
              <a:spcBef>
                <a:spcPts val="600"/>
              </a:spcBef>
              <a:spcAft>
                <a:spcPts val="600"/>
              </a:spcAft>
            </a:pPr>
            <a:r>
              <a:rPr sz="1100" b="0" i="0">
                <a:solidFill>
                  <a:srgbClr val="7A7A70"/>
                </a:solidFill>
                <a:latin typeface="Consolas"/>
                <a:ea typeface="Consolas"/>
              </a:rPr>
              <a:t>.45 – .70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07883" y="2423160"/>
            <a:ext cx="2051913" cy="1828800"/>
          </a:xfrm>
          <a:prstGeom prst="rect">
            <a:avLst/>
          </a:prstGeom>
          <a:solidFill>
            <a:srgbClr val="1E1E1C"/>
          </a:solidFill>
          <a:ln w="9525">
            <a:solidFill>
              <a:srgbClr val="2A2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07883" y="2926080"/>
            <a:ext cx="2051913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5A5A4A"/>
                </a:solidFill>
                <a:latin typeface="Microsoft YaHei"/>
                <a:ea typeface="Microsoft YaHei"/>
              </a:rPr>
              <a:t>废墟期</a:t>
            </a:r>
          </a:p>
          <a:p>
            <a:pPr algn="ctr">
              <a:spcBef>
                <a:spcPts val="600"/>
              </a:spcBef>
              <a:spcAft>
                <a:spcPts val="600"/>
              </a:spcAft>
            </a:pPr>
            <a:r>
              <a:rPr sz="1100" b="0" i="0">
                <a:solidFill>
                  <a:srgbClr val="7A7A70"/>
                </a:solidFill>
                <a:latin typeface="Consolas"/>
                <a:ea typeface="Consolas"/>
              </a:rPr>
              <a:t>.70 – .90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560964" y="2423160"/>
            <a:ext cx="2051913" cy="1828800"/>
          </a:xfrm>
          <a:prstGeom prst="rect">
            <a:avLst/>
          </a:prstGeom>
          <a:solidFill>
            <a:srgbClr val="1E1E1C"/>
          </a:solidFill>
          <a:ln w="9525">
            <a:solidFill>
              <a:srgbClr val="2A2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60964" y="2926080"/>
            <a:ext cx="2051913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A04030"/>
                </a:solidFill>
                <a:latin typeface="Microsoft YaHei"/>
                <a:ea typeface="Microsoft YaHei"/>
              </a:rPr>
              <a:t>寂灭期</a:t>
            </a:r>
          </a:p>
          <a:p>
            <a:pPr algn="ctr">
              <a:spcBef>
                <a:spcPts val="600"/>
              </a:spcBef>
              <a:spcAft>
                <a:spcPts val="600"/>
              </a:spcAft>
            </a:pPr>
            <a:r>
              <a:rPr sz="1100" b="0" i="0">
                <a:solidFill>
                  <a:srgbClr val="7A7A70"/>
                </a:solidFill>
                <a:latin typeface="Consolas"/>
                <a:ea typeface="Consolas"/>
              </a:rPr>
              <a:t>.90 – 1.0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63440"/>
            <a:ext cx="11064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C8C8C0"/>
                </a:solidFill>
                <a:latin typeface="Microsoft YaHei"/>
                <a:ea typeface="Microsoft YaHei"/>
              </a:rPr>
              <a:t>三种视觉风格 · Three locked visual styles:</a:t>
            </a:r>
          </a:p>
          <a:p>
            <a:pPr algn="l">
              <a:spcBef>
                <a:spcPts val="800"/>
              </a:spcBef>
              <a:spcAft>
                <a:spcPts val="600"/>
              </a:spcAft>
            </a:pPr>
            <a:r>
              <a:rPr sz="1300" b="0" i="0">
                <a:solidFill>
                  <a:srgbClr val="7A7A70"/>
                </a:solidFill>
                <a:latin typeface="Consolas"/>
                <a:ea typeface="Consolas"/>
              </a:rPr>
              <a:t>CSS/SVG 模糊 · 噪声叠加      |      Canvas 像素噪声注入      |      ASCII 字符崩坏 ░▒▓╳╬█</a:t>
            </a:r>
          </a:p>
          <a:p>
            <a:pPr algn="l">
              <a:spcBef>
                <a:spcPts val="1000"/>
              </a:spcBef>
              <a:spcAft>
                <a:spcPts val="600"/>
              </a:spcAft>
            </a:pPr>
            <a:r>
              <a:rPr sz="1200" b="0" i="0">
                <a:solidFill>
                  <a:srgbClr val="5A5A4A"/>
                </a:solidFill>
                <a:latin typeface="Microsoft YaHei"/>
                <a:ea typeface="Microsoft YaHei"/>
              </a:rPr>
              <a:t>衰变基于真实时间，由后端调度器驱动；演示模式 ×720 加速。随机性改变路径，但不改变最终结果。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5A4A"/>
                </a:solidFill>
                <a:latin typeface="Consolas"/>
                <a:ea typeface="Consolas"/>
              </a:rPr>
              <a:t>熵逝碑林 · Entropy Epitaph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40080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5A4A"/>
                </a:solidFill>
                <a:latin typeface="Consolas"/>
                <a:ea typeface="Consola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822960" cy="50800"/>
          </a:xfrm>
          <a:prstGeom prst="rect">
            <a:avLst/>
          </a:prstGeom>
          <a:solidFill>
            <a:srgbClr val="8A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8A7A5A"/>
                </a:solidFill>
                <a:latin typeface="Consolas"/>
                <a:ea typeface="Consolas"/>
              </a:rPr>
              <a:t>06  SYSTEM · 墓园体系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C8C8C0"/>
                </a:solidFill>
                <a:latin typeface="Microsoft YaHei"/>
                <a:ea typeface="Microsoft YaHei"/>
              </a:rPr>
              <a:t>从个人守墓到陌生人的凭吊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400" b="0" i="0">
                <a:solidFill>
                  <a:srgbClr val="7A7A70"/>
                </a:solidFill>
                <a:latin typeface="Consolas"/>
                <a:ea typeface="Consolas"/>
              </a:rPr>
              <a:t>From a private keeper to the kindness of strangers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68880"/>
            <a:ext cx="3566160" cy="2926080"/>
          </a:xfrm>
          <a:prstGeom prst="rect">
            <a:avLst/>
          </a:prstGeom>
          <a:solidFill>
            <a:srgbClr val="1E1E1C"/>
          </a:solidFill>
          <a:ln w="9525">
            <a:solidFill>
              <a:srgbClr val="2A2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30175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C8C8C0"/>
                </a:solidFill>
                <a:latin typeface="Microsoft YaHei"/>
                <a:ea typeface="Microsoft YaHei"/>
              </a:rPr>
              <a:t>个人墓园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100" b="0" i="0">
                <a:solidFill>
                  <a:srgbClr val="8A7A5A"/>
                </a:solidFill>
                <a:latin typeface="Consolas"/>
                <a:ea typeface="Consolas"/>
              </a:rPr>
              <a:t>My Graveyard</a:t>
            </a:r>
          </a:p>
          <a:p>
            <a:pPr algn="l">
              <a:spcBef>
                <a:spcPts val="1400"/>
              </a:spcBef>
              <a:spcAft>
                <a:spcPts val="600"/>
              </a:spcAft>
            </a:pPr>
            <a:r>
              <a:rPr sz="1200" b="0" i="0">
                <a:solidFill>
                  <a:srgbClr val="7A7A70"/>
                </a:solidFill>
                <a:latin typeface="Microsoft YaHei"/>
                <a:ea typeface="Microsoft YaHei"/>
              </a:rPr>
              <a:t>查看、筛选、擦拭自己的碑。每天上线，像一个守墓人。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2468880"/>
            <a:ext cx="3566160" cy="2926080"/>
          </a:xfrm>
          <a:prstGeom prst="rect">
            <a:avLst/>
          </a:prstGeom>
          <a:solidFill>
            <a:srgbClr val="1E1E1C"/>
          </a:solidFill>
          <a:ln w="9525">
            <a:solidFill>
              <a:srgbClr val="2A2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743200"/>
            <a:ext cx="30175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C8C8C0"/>
                </a:solidFill>
                <a:latin typeface="Microsoft YaHei"/>
                <a:ea typeface="Microsoft YaHei"/>
              </a:rPr>
              <a:t>无名墓区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100" b="0" i="0">
                <a:solidFill>
                  <a:srgbClr val="8A7A5A"/>
                </a:solidFill>
                <a:latin typeface="Consolas"/>
                <a:ea typeface="Consolas"/>
              </a:rPr>
              <a:t>Nameless Grounds</a:t>
            </a:r>
          </a:p>
          <a:p>
            <a:pPr algn="l">
              <a:spcBef>
                <a:spcPts val="1400"/>
              </a:spcBef>
              <a:spcAft>
                <a:spcPts val="600"/>
              </a:spcAft>
            </a:pPr>
            <a:r>
              <a:rPr sz="1200" b="0" i="0">
                <a:solidFill>
                  <a:srgbClr val="7A7A70"/>
                </a:solidFill>
                <a:latin typeface="Microsoft YaHei"/>
                <a:ea typeface="Microsoft YaHei"/>
              </a:rPr>
              <a:t>匿名公开碑。陌生人可凭吊一次，不得到任何反馈——不求回报的微小善意。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20" y="2468880"/>
            <a:ext cx="3566160" cy="2926080"/>
          </a:xfrm>
          <a:prstGeom prst="rect">
            <a:avLst/>
          </a:prstGeom>
          <a:solidFill>
            <a:srgbClr val="1E1E1C"/>
          </a:solidFill>
          <a:ln w="9525">
            <a:solidFill>
              <a:srgbClr val="2A2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2743200"/>
            <a:ext cx="30175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C8C8C0"/>
                </a:solidFill>
                <a:latin typeface="Microsoft YaHei"/>
                <a:ea typeface="Microsoft YaHei"/>
              </a:rPr>
              <a:t>消逝档案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100" b="0" i="0">
                <a:solidFill>
                  <a:srgbClr val="8A7A5A"/>
                </a:solidFill>
                <a:latin typeface="Consolas"/>
                <a:ea typeface="Consolas"/>
              </a:rPr>
              <a:t>Extinction Archive</a:t>
            </a:r>
          </a:p>
          <a:p>
            <a:pPr algn="l">
              <a:spcBef>
                <a:spcPts val="1400"/>
              </a:spcBef>
              <a:spcAft>
                <a:spcPts val="600"/>
              </a:spcAft>
            </a:pPr>
            <a:r>
              <a:rPr sz="1200" b="0" i="0">
                <a:solidFill>
                  <a:srgbClr val="7A7A70"/>
                </a:solidFill>
                <a:latin typeface="Microsoft YaHei"/>
                <a:ea typeface="Microsoft YaHei"/>
              </a:rPr>
              <a:t>只留凭证编号和时间。档案本身也逐渐丢页，最终连「消失过」也被忘记。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5A4A"/>
                </a:solidFill>
                <a:latin typeface="Consolas"/>
                <a:ea typeface="Consolas"/>
              </a:rPr>
              <a:t>熵逝碑林 · Entropy Epitaph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0080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5A4A"/>
                </a:solidFill>
                <a:latin typeface="Consolas"/>
                <a:ea typeface="Consola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822960" cy="50800"/>
          </a:xfrm>
          <a:prstGeom prst="rect">
            <a:avLst/>
          </a:prstGeom>
          <a:solidFill>
            <a:srgbClr val="8A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8A7A5A"/>
                </a:solidFill>
                <a:latin typeface="Consolas"/>
                <a:ea typeface="Consolas"/>
              </a:rPr>
              <a:t>07  ENGINEERING · 技术架构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C8C8C0"/>
                </a:solidFill>
                <a:latin typeface="Microsoft YaHei"/>
                <a:ea typeface="Microsoft YaHei"/>
              </a:rPr>
              <a:t>一套契约，两种运行模式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400" b="0" i="0">
                <a:solidFill>
                  <a:srgbClr val="7A7A70"/>
                </a:solidFill>
                <a:latin typeface="Consolas"/>
                <a:ea typeface="Consolas"/>
              </a:rPr>
              <a:t>One contract, two runtimes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5394960" cy="3566160"/>
          </a:xfrm>
          <a:prstGeom prst="rect">
            <a:avLst/>
          </a:prstGeom>
          <a:solidFill>
            <a:srgbClr val="1E1E1C"/>
          </a:solidFill>
          <a:ln w="9525">
            <a:solidFill>
              <a:srgbClr val="2A2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60320"/>
            <a:ext cx="484632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C8C8C0"/>
                </a:solidFill>
                <a:latin typeface="Microsoft YaHei"/>
                <a:ea typeface="Microsoft YaHei"/>
              </a:rPr>
              <a:t>本地完整模式 · Local full stack</a:t>
            </a:r>
          </a:p>
          <a:p>
            <a:pPr algn="l">
              <a:spcBef>
                <a:spcPts val="700"/>
              </a:spcBef>
              <a:spcAft>
                <a:spcPts val="600"/>
              </a:spcAft>
            </a:pPr>
            <a:r>
              <a:rPr sz="1200" b="0" i="0">
                <a:solidFill>
                  <a:srgbClr val="7A7A70"/>
                </a:solidFill>
                <a:latin typeface="Consolas"/>
                <a:ea typeface="Consolas"/>
              </a:rPr>
              <a:t>·  FastAPI · SQLAlchemy async · SQLite</a:t>
            </a:r>
          </a:p>
          <a:p>
            <a:pPr algn="l">
              <a:spcBef>
                <a:spcPts val="700"/>
              </a:spcBef>
              <a:spcAft>
                <a:spcPts val="600"/>
              </a:spcAft>
            </a:pPr>
            <a:r>
              <a:rPr sz="1200" b="0" i="0">
                <a:solidFill>
                  <a:srgbClr val="7A7A70"/>
                </a:solidFill>
                <a:latin typeface="Consolas"/>
                <a:ea typeface="Consolas"/>
              </a:rPr>
              <a:t>·  APScheduler 真实时间熵增引擎</a:t>
            </a:r>
          </a:p>
          <a:p>
            <a:pPr algn="l">
              <a:spcBef>
                <a:spcPts val="700"/>
              </a:spcBef>
              <a:spcAft>
                <a:spcPts val="600"/>
              </a:spcAft>
            </a:pPr>
            <a:r>
              <a:rPr sz="1200" b="0" i="0">
                <a:solidFill>
                  <a:srgbClr val="7A7A70"/>
                </a:solidFill>
                <a:latin typeface="Consolas"/>
                <a:ea typeface="Consolas"/>
              </a:rPr>
              <a:t>·  OpenAI 五环节生成 + 离线 fallback</a:t>
            </a:r>
          </a:p>
          <a:p>
            <a:pPr algn="l">
              <a:spcBef>
                <a:spcPts val="700"/>
              </a:spcBef>
              <a:spcAft>
                <a:spcPts val="600"/>
              </a:spcAft>
            </a:pPr>
            <a:r>
              <a:rPr sz="1200" b="0" i="0">
                <a:solidFill>
                  <a:srgbClr val="7A7A70"/>
                </a:solidFill>
                <a:latin typeface="Consolas"/>
                <a:ea typeface="Consolas"/>
              </a:rPr>
              <a:t>·  Wayback Machine 快照查询</a:t>
            </a:r>
          </a:p>
          <a:p>
            <a:pPr algn="l">
              <a:spcBef>
                <a:spcPts val="700"/>
              </a:spcBef>
              <a:spcAft>
                <a:spcPts val="600"/>
              </a:spcAft>
            </a:pPr>
            <a:r>
              <a:rPr sz="1200" b="0" i="0">
                <a:solidFill>
                  <a:srgbClr val="7A7A70"/>
                </a:solidFill>
                <a:latin typeface="Consolas"/>
                <a:ea typeface="Consolas"/>
              </a:rPr>
              <a:t>·  SHA-256 唯一消逝凭证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2331720"/>
            <a:ext cx="5394960" cy="3566160"/>
          </a:xfrm>
          <a:prstGeom prst="rect">
            <a:avLst/>
          </a:prstGeom>
          <a:solidFill>
            <a:srgbClr val="1E1E1C"/>
          </a:solidFill>
          <a:ln w="9525">
            <a:solidFill>
              <a:srgbClr val="8A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2560320"/>
            <a:ext cx="484632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C8C8C0"/>
                </a:solidFill>
                <a:latin typeface="Microsoft YaHei"/>
                <a:ea typeface="Microsoft YaHei"/>
              </a:rPr>
              <a:t>GitHub Pages 静态模式</a:t>
            </a:r>
          </a:p>
          <a:p>
            <a:pPr algn="l">
              <a:spcBef>
                <a:spcPts val="700"/>
              </a:spcBef>
              <a:spcAft>
                <a:spcPts val="600"/>
              </a:spcAft>
            </a:pPr>
            <a:r>
              <a:rPr sz="1200" b="0" i="0">
                <a:solidFill>
                  <a:srgbClr val="7A7A70"/>
                </a:solidFill>
                <a:latin typeface="Consolas"/>
                <a:ea typeface="Consolas"/>
              </a:rPr>
              <a:t>·  Vanilla JS + Vite 静态托管</a:t>
            </a:r>
          </a:p>
          <a:p>
            <a:pPr algn="l">
              <a:spcBef>
                <a:spcPts val="700"/>
              </a:spcBef>
              <a:spcAft>
                <a:spcPts val="600"/>
              </a:spcAft>
            </a:pPr>
            <a:r>
              <a:rPr sz="1200" b="0" i="0">
                <a:solidFill>
                  <a:srgbClr val="7A7A70"/>
                </a:solidFill>
                <a:latin typeface="Consolas"/>
                <a:ea typeface="Consolas"/>
              </a:rPr>
              <a:t>·  同一 API 契约的浏览器适配层</a:t>
            </a:r>
          </a:p>
          <a:p>
            <a:pPr algn="l">
              <a:spcBef>
                <a:spcPts val="700"/>
              </a:spcBef>
              <a:spcAft>
                <a:spcPts val="600"/>
              </a:spcAft>
            </a:pPr>
            <a:r>
              <a:rPr sz="1200" b="0" i="0">
                <a:solidFill>
                  <a:srgbClr val="7A7A70"/>
                </a:solidFill>
                <a:latin typeface="Consolas"/>
                <a:ea typeface="Consolas"/>
              </a:rPr>
              <a:t>·  localStorage 持久化访客操作</a:t>
            </a:r>
          </a:p>
          <a:p>
            <a:pPr algn="l">
              <a:spcBef>
                <a:spcPts val="700"/>
              </a:spcBef>
              <a:spcAft>
                <a:spcPts val="600"/>
              </a:spcAft>
            </a:pPr>
            <a:r>
              <a:rPr sz="1200" b="0" i="0">
                <a:solidFill>
                  <a:srgbClr val="7A7A70"/>
                </a:solidFill>
                <a:latin typeface="Consolas"/>
                <a:ea typeface="Consolas"/>
              </a:rPr>
              <a:t>·  120 条可复现演示数据 fixture</a:t>
            </a:r>
          </a:p>
          <a:p>
            <a:pPr algn="l">
              <a:spcBef>
                <a:spcPts val="700"/>
              </a:spcBef>
              <a:spcAft>
                <a:spcPts val="600"/>
              </a:spcAft>
            </a:pPr>
            <a:r>
              <a:rPr sz="1200" b="0" i="0">
                <a:solidFill>
                  <a:srgbClr val="7A7A70"/>
                </a:solidFill>
                <a:latin typeface="Consolas"/>
                <a:ea typeface="Consolas"/>
              </a:rPr>
              <a:t>·  CI + Pages 自动部署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5A4A"/>
                </a:solidFill>
                <a:latin typeface="Consolas"/>
                <a:ea typeface="Consolas"/>
              </a:rPr>
              <a:t>熵逝碑林 · Entropy Epitaph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40080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5A4A"/>
                </a:solidFill>
                <a:latin typeface="Consolas"/>
                <a:ea typeface="Consola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822960" cy="50800"/>
          </a:xfrm>
          <a:prstGeom prst="rect">
            <a:avLst/>
          </a:prstGeom>
          <a:solidFill>
            <a:srgbClr val="8A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8A7A5A"/>
                </a:solidFill>
                <a:latin typeface="Consolas"/>
                <a:ea typeface="Consolas"/>
              </a:rPr>
              <a:t>08  DEMO · 演示数据与现场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C8C8C0"/>
                </a:solidFill>
                <a:latin typeface="Microsoft YaHei"/>
                <a:ea typeface="Microsoft YaHei"/>
              </a:rPr>
              <a:t>120 块碑，均衡覆盖，开箱即演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400" b="0" i="0">
                <a:solidFill>
                  <a:srgbClr val="7A7A70"/>
                </a:solidFill>
                <a:latin typeface="Consolas"/>
                <a:ea typeface="Consolas"/>
              </a:rPr>
              <a:t>120 monuments, balanced coverage, ready to demo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77440"/>
            <a:ext cx="2066544" cy="1645920"/>
          </a:xfrm>
          <a:prstGeom prst="rect">
            <a:avLst/>
          </a:prstGeom>
          <a:solidFill>
            <a:srgbClr val="1E1E1C"/>
          </a:solidFill>
          <a:ln w="9525">
            <a:solidFill>
              <a:srgbClr val="2A2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651760"/>
            <a:ext cx="2066544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8A7A5A"/>
                </a:solidFill>
                <a:latin typeface="Consolas"/>
                <a:ea typeface="Consolas"/>
              </a:rPr>
              <a:t>120</a:t>
            </a:r>
          </a:p>
          <a:p>
            <a:pPr algn="ctr">
              <a:spcBef>
                <a:spcPts val="400"/>
              </a:spcBef>
              <a:spcAft>
                <a:spcPts val="600"/>
              </a:spcAft>
            </a:pPr>
            <a:r>
              <a:rPr sz="1000" b="0" i="0">
                <a:solidFill>
                  <a:srgbClr val="7A7A70"/>
                </a:solidFill>
                <a:latin typeface="Microsoft YaHei"/>
                <a:ea typeface="Microsoft YaHei"/>
              </a:rPr>
              <a:t>总墓碑 Monuments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2798064" y="2377440"/>
            <a:ext cx="2066544" cy="1645920"/>
          </a:xfrm>
          <a:prstGeom prst="rect">
            <a:avLst/>
          </a:prstGeom>
          <a:solidFill>
            <a:srgbClr val="1E1E1C"/>
          </a:solidFill>
          <a:ln w="9525">
            <a:solidFill>
              <a:srgbClr val="2A2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98064" y="2651760"/>
            <a:ext cx="2066544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8A7A5A"/>
                </a:solidFill>
                <a:latin typeface="Consolas"/>
                <a:ea typeface="Consolas"/>
              </a:rPr>
              <a:t>4</a:t>
            </a:r>
          </a:p>
          <a:p>
            <a:pPr algn="ctr">
              <a:spcBef>
                <a:spcPts val="400"/>
              </a:spcBef>
              <a:spcAft>
                <a:spcPts val="600"/>
              </a:spcAft>
            </a:pPr>
            <a:r>
              <a:rPr sz="1000" b="0" i="0">
                <a:solidFill>
                  <a:srgbClr val="7A7A70"/>
                </a:solidFill>
                <a:latin typeface="Microsoft YaHei"/>
                <a:ea typeface="Microsoft YaHei"/>
              </a:rPr>
              <a:t>类型 × 30 Types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47488" y="2377440"/>
            <a:ext cx="2066544" cy="1645920"/>
          </a:xfrm>
          <a:prstGeom prst="rect">
            <a:avLst/>
          </a:prstGeom>
          <a:solidFill>
            <a:srgbClr val="1E1E1C"/>
          </a:solidFill>
          <a:ln w="9525">
            <a:solidFill>
              <a:srgbClr val="2A2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488" y="2651760"/>
            <a:ext cx="2066544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8A7A5A"/>
                </a:solidFill>
                <a:latin typeface="Consolas"/>
                <a:ea typeface="Consolas"/>
              </a:rPr>
              <a:t>5</a:t>
            </a:r>
          </a:p>
          <a:p>
            <a:pPr algn="ctr">
              <a:spcBef>
                <a:spcPts val="400"/>
              </a:spcBef>
              <a:spcAft>
                <a:spcPts val="600"/>
              </a:spcAft>
            </a:pPr>
            <a:r>
              <a:rPr sz="1000" b="0" i="0">
                <a:solidFill>
                  <a:srgbClr val="7A7A70"/>
                </a:solidFill>
                <a:latin typeface="Microsoft YaHei"/>
                <a:ea typeface="Microsoft YaHei"/>
              </a:rPr>
              <a:t>阶段 × 24 Stages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96912" y="2377440"/>
            <a:ext cx="2066544" cy="1645920"/>
          </a:xfrm>
          <a:prstGeom prst="rect">
            <a:avLst/>
          </a:prstGeom>
          <a:solidFill>
            <a:srgbClr val="1E1E1C"/>
          </a:solidFill>
          <a:ln w="9525">
            <a:solidFill>
              <a:srgbClr val="2A2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96912" y="2651760"/>
            <a:ext cx="2066544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8A7A5A"/>
                </a:solidFill>
                <a:latin typeface="Consolas"/>
                <a:ea typeface="Consolas"/>
              </a:rPr>
              <a:t>3</a:t>
            </a:r>
          </a:p>
          <a:p>
            <a:pPr algn="ctr">
              <a:spcBef>
                <a:spcPts val="400"/>
              </a:spcBef>
              <a:spcAft>
                <a:spcPts val="600"/>
              </a:spcAft>
            </a:pPr>
            <a:r>
              <a:rPr sz="1000" b="0" i="0">
                <a:solidFill>
                  <a:srgbClr val="7A7A70"/>
                </a:solidFill>
                <a:latin typeface="Microsoft YaHei"/>
                <a:ea typeface="Microsoft YaHei"/>
              </a:rPr>
              <a:t>风格 × 40 Styles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546336" y="2377440"/>
            <a:ext cx="2066544" cy="1645920"/>
          </a:xfrm>
          <a:prstGeom prst="rect">
            <a:avLst/>
          </a:prstGeom>
          <a:solidFill>
            <a:srgbClr val="1E1E1C"/>
          </a:solidFill>
          <a:ln w="9525">
            <a:solidFill>
              <a:srgbClr val="2A2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46336" y="2651760"/>
            <a:ext cx="2066544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8A7A5A"/>
                </a:solidFill>
                <a:latin typeface="Consolas"/>
                <a:ea typeface="Consolas"/>
              </a:rPr>
              <a:t>12</a:t>
            </a:r>
          </a:p>
          <a:p>
            <a:pPr algn="ctr">
              <a:spcBef>
                <a:spcPts val="400"/>
              </a:spcBef>
              <a:spcAft>
                <a:spcPts val="600"/>
              </a:spcAft>
            </a:pPr>
            <a:r>
              <a:rPr sz="1000" b="0" i="0">
                <a:solidFill>
                  <a:srgbClr val="7A7A70"/>
                </a:solidFill>
                <a:latin typeface="Microsoft YaHei"/>
                <a:ea typeface="Microsoft YaHei"/>
              </a:rPr>
              <a:t>消逝凭证 Certs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480560"/>
            <a:ext cx="110642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C8C8C0"/>
                </a:solidFill>
                <a:latin typeface="Microsoft YaHei"/>
                <a:ea typeface="Microsoft YaHei"/>
              </a:rPr>
              <a:t>5 分钟现场路径:</a:t>
            </a:r>
          </a:p>
          <a:p>
            <a:pPr algn="l">
              <a:spcBef>
                <a:spcPts val="800"/>
              </a:spcBef>
              <a:spcAft>
                <a:spcPts val="600"/>
              </a:spcAft>
            </a:pPr>
            <a:r>
              <a:rPr sz="1200" b="0" i="0">
                <a:solidFill>
                  <a:srgbClr val="7A7A70"/>
                </a:solidFill>
                <a:latin typeface="Microsoft YaHei"/>
                <a:ea typeface="Microsoft YaHei"/>
              </a:rPr>
              <a:t>落地页抛主张 → 浏览 120 块不同阶段的碑 → 立一块遗物碑 → 开 ×720 演示模式看风化 → 擦拭高熵碑 → 见证崩塌与凭证 → 无名墓区凭吊 → 查看逐渐丢页的档案</a:t>
            </a:r>
          </a:p>
          <a:p>
            <a:pPr algn="l">
              <a:spcBef>
                <a:spcPts val="1000"/>
              </a:spcBef>
              <a:spcAft>
                <a:spcPts val="600"/>
              </a:spcAft>
            </a:pPr>
            <a:r>
              <a:rPr sz="1200" b="0" i="0">
                <a:solidFill>
                  <a:srgbClr val="00C83A"/>
                </a:solidFill>
                <a:latin typeface="Consolas"/>
                <a:ea typeface="Consolas"/>
              </a:rPr>
              <a:t>Live:  h0ll0w-akuzr0guy.github.io/entropy-epitaph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5A4A"/>
                </a:solidFill>
                <a:latin typeface="Consolas"/>
                <a:ea typeface="Consolas"/>
              </a:rPr>
              <a:t>熵逝碑林 · Entropy Epitaph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40080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5A4A"/>
                </a:solidFill>
                <a:latin typeface="Consolas"/>
                <a:ea typeface="Consola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2A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C8C8C0"/>
                </a:solidFill>
                <a:latin typeface="Microsoft YaHei"/>
                <a:ea typeface="Microsoft YaHei"/>
              </a:rPr>
              <a:t>我们不做备份，我们做告别。</a:t>
            </a:r>
          </a:p>
          <a:p>
            <a:pPr algn="l">
              <a:spcBef>
                <a:spcPts val="1400"/>
              </a:spcBef>
              <a:spcAft>
                <a:spcPts val="600"/>
              </a:spcAft>
            </a:pPr>
            <a:r>
              <a:rPr sz="2000" b="0" i="0">
                <a:solidFill>
                  <a:srgbClr val="8A7A5A"/>
                </a:solidFill>
                <a:latin typeface="Consolas"/>
                <a:ea typeface="Consolas"/>
              </a:rPr>
              <a:t>We don't do backups. We do goodbyes.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7A7A70"/>
                </a:solidFill>
                <a:latin typeface="Consolas"/>
                <a:ea typeface="Consolas"/>
              </a:rPr>
              <a:t>熵逝碑林 · Entropy Epitaph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200" b="0" i="0">
                <a:solidFill>
                  <a:srgbClr val="7A7A70"/>
                </a:solidFill>
                <a:latin typeface="Consolas"/>
                <a:ea typeface="Consolas"/>
              </a:rPr>
              <a:t>h0ll0w-akuzr0guy.github.io/entropy-epitaph   ·   github.com/h0ll0w-AkuZr0guY/entropy-epitaph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