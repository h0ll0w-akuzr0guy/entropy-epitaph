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F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A3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D2CDBE"/>
                </a:solidFill>
                <a:latin typeface="Microsoft YaHei"/>
                <a:ea typeface="Microsoft YaHei"/>
              </a:rPr>
              <a:t>熵逝碑林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200" b="0" i="0">
                <a:solidFill>
                  <a:srgbClr val="B89A63"/>
                </a:solidFill>
                <a:latin typeface="Consolas"/>
                <a:ea typeface="Consolas"/>
              </a:rPr>
              <a:t>Entropy Epitaph</a:t>
            </a:r>
          </a:p>
          <a:p>
            <a:pPr algn="l">
              <a:spcBef>
                <a:spcPts val="2200"/>
              </a:spcBef>
              <a:spcAft>
                <a:spcPts val="600"/>
              </a:spcAft>
            </a:pPr>
            <a:r>
              <a:rPr sz="2000" b="0" i="0">
                <a:solidFill>
                  <a:srgbClr val="D2CDBE"/>
                </a:solidFill>
                <a:latin typeface="Microsoft YaHei"/>
                <a:ea typeface="Microsoft YaHei"/>
              </a:rPr>
              <a:t>万物终将风化，连遗忘本身也会被遗忘。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400" b="0" i="0">
                <a:solidFill>
                  <a:srgbClr val="8A8372"/>
                </a:solidFill>
                <a:latin typeface="Consolas"/>
                <a:ea typeface="Consolas"/>
              </a:rPr>
              <a:t>Everything decays. Even the memory of forgetting.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372"/>
                </a:solidFill>
                <a:latin typeface="Microsoft YaHei"/>
                <a:ea typeface="Microsoft YaHei"/>
              </a:rPr>
              <a:t>一座所有事物都会消亡的数字墓园 · A digital graveyard where everything decays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200" b="0" i="0">
                <a:solidFill>
                  <a:srgbClr val="4AD17A"/>
                </a:solidFill>
                <a:latin typeface="Consolas"/>
                <a:ea typeface="Consolas"/>
              </a:rPr>
              <a:t>在线演示 Live Demo:  h0ll0w-akuzr0guy.github.io/entropy-epitaph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F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50800"/>
          </a:xfrm>
          <a:prstGeom prst="rect">
            <a:avLst/>
          </a:prstGeom>
          <a:solidFill>
            <a:srgbClr val="B89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89A63"/>
                </a:solidFill>
                <a:latin typeface="Consolas"/>
                <a:ea typeface="Consolas"/>
              </a:rPr>
              <a:t>01  PROBLEM · 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D2CDBE"/>
                </a:solidFill>
                <a:latin typeface="Microsoft YaHei"/>
                <a:ea typeface="Microsoft YaHei"/>
              </a:rPr>
              <a:t>互联网只会保存，不会告别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 i="0">
                <a:solidFill>
                  <a:srgbClr val="8A8372"/>
                </a:solidFill>
                <a:latin typeface="Consolas"/>
                <a:ea typeface="Consolas"/>
              </a:rPr>
              <a:t>The internet only saves. It never says goodbye.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D2CDBE"/>
                </a:solidFill>
                <a:latin typeface="Microsoft YaHei"/>
                <a:ea typeface="Microsoft YaHei"/>
              </a:rPr>
              <a:t>所有产品的默认价值观是永久保存：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0" i="0">
                <a:solidFill>
                  <a:srgbClr val="8A8372"/>
                </a:solidFill>
                <a:latin typeface="Microsoft YaHei"/>
                <a:ea typeface="Microsoft YaHei"/>
              </a:rPr>
              <a:t>—  云端备份 · Cloud backup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0" i="0">
                <a:solidFill>
                  <a:srgbClr val="8A8372"/>
                </a:solidFill>
                <a:latin typeface="Microsoft YaHei"/>
                <a:ea typeface="Microsoft YaHei"/>
              </a:rPr>
              <a:t>—  无限历史 · Infinite history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0" i="0">
                <a:solidFill>
                  <a:srgbClr val="8A8372"/>
                </a:solidFill>
                <a:latin typeface="Microsoft YaHei"/>
                <a:ea typeface="Microsoft YaHei"/>
              </a:rPr>
              <a:t>—  永不丢失 · Never lose a byte</a:t>
            </a:r>
          </a:p>
          <a:p>
            <a:pPr algn="l">
              <a:spcBef>
                <a:spcPts val="2000"/>
              </a:spcBef>
              <a:spcAft>
                <a:spcPts val="600"/>
              </a:spcAft>
            </a:pPr>
            <a:r>
              <a:rPr sz="1500" b="0" i="0">
                <a:solidFill>
                  <a:srgbClr val="D2CDBE"/>
                </a:solidFill>
                <a:latin typeface="Microsoft YaHei"/>
                <a:ea typeface="Microsoft YaHei"/>
              </a:rPr>
              <a:t>它解决了数据遗失，却拿走了「结束」的空间。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300" b="0" i="0">
                <a:solidFill>
                  <a:srgbClr val="8A8372"/>
                </a:solidFill>
                <a:latin typeface="Microsoft YaHei"/>
                <a:ea typeface="Microsoft YaHei"/>
              </a:rPr>
              <a:t>废弃代码、结束的关系、失效链接、放弃的梦想——长期堆积，既没被使用，也没被真正放下。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286000"/>
            <a:ext cx="5212080" cy="3291840"/>
          </a:xfrm>
          <a:prstGeom prst="rect">
            <a:avLst/>
          </a:prstGeom>
          <a:solidFill>
            <a:srgbClr val="1C1A16"/>
          </a:solidFill>
          <a:ln w="9525">
            <a:solidFill>
              <a:srgbClr val="3A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651760"/>
            <a:ext cx="457200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D2CDBE"/>
                </a:solidFill>
                <a:latin typeface="Microsoft YaHei"/>
                <a:ea typeface="Microsoft YaHei"/>
              </a:rPr>
              <a:t>“删除只在一瞬间，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2000" b="1" i="0">
                <a:solidFill>
                  <a:srgbClr val="D2CDBE"/>
                </a:solidFill>
                <a:latin typeface="Microsoft YaHei"/>
                <a:ea typeface="Microsoft YaHei"/>
              </a:rPr>
              <a:t>  永久保存则拒绝结束。”</a:t>
            </a:r>
          </a:p>
          <a:p>
            <a:pPr algn="l">
              <a:spcBef>
                <a:spcPts val="1600"/>
              </a:spcBef>
              <a:spcAft>
                <a:spcPts val="600"/>
              </a:spcAft>
            </a:pPr>
            <a:r>
              <a:rPr sz="1300" b="0" i="0">
                <a:solidFill>
                  <a:srgbClr val="8A8372"/>
                </a:solidFill>
                <a:latin typeface="Consolas"/>
                <a:ea typeface="Consolas"/>
              </a:rPr>
              <a:t>Deletion is instant. Permanence refuses closure.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564A"/>
                </a:solidFill>
                <a:latin typeface="Consolas"/>
                <a:ea typeface="Consolas"/>
              </a:rPr>
              <a:t>熵逝碑林 · Entropy Epitaph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008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564A"/>
                </a:solidFill>
                <a:latin typeface="Consolas"/>
                <a:ea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F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50800"/>
          </a:xfrm>
          <a:prstGeom prst="rect">
            <a:avLst/>
          </a:prstGeom>
          <a:solidFill>
            <a:srgbClr val="B89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89A63"/>
                </a:solidFill>
                <a:latin typeface="Consolas"/>
                <a:ea typeface="Consolas"/>
              </a:rPr>
              <a:t>02  INSIGHT · 反常识洞察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D2CDBE"/>
                </a:solidFill>
                <a:latin typeface="Microsoft YaHei"/>
                <a:ea typeface="Microsoft YaHei"/>
              </a:rPr>
              <a:t>我们做唯一的反面：一切必然消逝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 i="0">
                <a:solidFill>
                  <a:srgbClr val="8A8372"/>
                </a:solidFill>
                <a:latin typeface="Consolas"/>
                <a:ea typeface="Consolas"/>
              </a:rPr>
              <a:t>The contrarian bet: everything must fade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5212080" cy="3200400"/>
          </a:xfrm>
          <a:prstGeom prst="rect">
            <a:avLst/>
          </a:prstGeom>
          <a:solidFill>
            <a:srgbClr val="1C1A16"/>
          </a:solidFill>
          <a:ln w="9525">
            <a:solidFill>
              <a:srgbClr val="3A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8A8372"/>
                </a:solidFill>
                <a:latin typeface="Microsoft YaHei"/>
                <a:ea typeface="Microsoft YaHei"/>
              </a:rPr>
              <a:t>所有其他产品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8372"/>
                </a:solidFill>
                <a:latin typeface="Consolas"/>
                <a:ea typeface="Consolas"/>
              </a:rPr>
              <a:t>Every other product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400" b="0" i="0">
                <a:solidFill>
                  <a:srgbClr val="5C564A"/>
                </a:solidFill>
                <a:latin typeface="Microsoft YaHei"/>
                <a:ea typeface="Microsoft YaHei"/>
              </a:rPr>
              <a:t>✕  永久保存 Store forever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400" b="0" i="0">
                <a:solidFill>
                  <a:srgbClr val="5C564A"/>
                </a:solidFill>
                <a:latin typeface="Microsoft YaHei"/>
                <a:ea typeface="Microsoft YaHei"/>
              </a:rPr>
              <a:t>✕  云端备份 Cloud backup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400" b="0" i="0">
                <a:solidFill>
                  <a:srgbClr val="5C564A"/>
                </a:solidFill>
                <a:latin typeface="Microsoft YaHei"/>
                <a:ea typeface="Microsoft YaHei"/>
              </a:rPr>
              <a:t>✕  永不丢失 Never 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377440"/>
            <a:ext cx="5212080" cy="3200400"/>
          </a:xfrm>
          <a:prstGeom prst="rect">
            <a:avLst/>
          </a:prstGeom>
          <a:solidFill>
            <a:srgbClr val="1C1A16"/>
          </a:solidFill>
          <a:ln w="9525">
            <a:solidFill>
              <a:srgbClr val="B89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65176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D2CDBE"/>
                </a:solidFill>
                <a:latin typeface="Microsoft YaHei"/>
                <a:ea typeface="Microsoft YaHei"/>
              </a:rPr>
              <a:t>熵逝碑林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B89A63"/>
                </a:solidFill>
                <a:latin typeface="Consolas"/>
                <a:ea typeface="Consolas"/>
              </a:rPr>
              <a:t>Entropy Epitaph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400" b="0" i="0">
                <a:solidFill>
                  <a:srgbClr val="D2CDBE"/>
                </a:solidFill>
                <a:latin typeface="Microsoft YaHei"/>
                <a:ea typeface="Microsoft YaHei"/>
              </a:rPr>
              <a:t>●  必然消逝 Everything fades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400" b="0" i="0">
                <a:solidFill>
                  <a:srgbClr val="D2CDBE"/>
                </a:solidFill>
                <a:latin typeface="Microsoft YaHei"/>
                <a:ea typeface="Microsoft YaHei"/>
              </a:rPr>
              <a:t>●  无法逆转 One-way entropy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400" b="0" i="0">
                <a:solidFill>
                  <a:srgbClr val="D2CDBE"/>
                </a:solidFill>
                <a:latin typeface="Microsoft YaHei"/>
                <a:ea typeface="Microsoft YaHei"/>
              </a:rPr>
              <a:t>●  连证明也会消失 Even the proof dies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356616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5C564A"/>
                </a:solidFill>
                <a:latin typeface="Microsoft YaHei"/>
                <a:ea typeface="Microsoft YaHei"/>
              </a:rP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564A"/>
                </a:solidFill>
                <a:latin typeface="Consolas"/>
                <a:ea typeface="Consolas"/>
              </a:rPr>
              <a:t>熵逝碑林 · Entropy Epitaph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008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564A"/>
                </a:solidFill>
                <a:latin typeface="Consolas"/>
                <a:ea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F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50800"/>
          </a:xfrm>
          <a:prstGeom prst="rect">
            <a:avLst/>
          </a:prstGeom>
          <a:solidFill>
            <a:srgbClr val="B89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89A63"/>
                </a:solidFill>
                <a:latin typeface="Consolas"/>
                <a:ea typeface="Consolas"/>
              </a:rPr>
              <a:t>03  HOW IT WORKS · 熵增闭环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D2CDBE"/>
                </a:solidFill>
                <a:latin typeface="Microsoft YaHei"/>
                <a:ea typeface="Microsoft YaHei"/>
              </a:rPr>
              <a:t>立碑 → 风化 → 擦拭 → 寂灭 → 遗忘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 i="0">
                <a:solidFill>
                  <a:srgbClr val="8A8372"/>
                </a:solidFill>
                <a:latin typeface="Consolas"/>
                <a:ea typeface="Consolas"/>
              </a:rPr>
              <a:t>Erect → Decay → Delay → Vanish → Forget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2029968" cy="2834640"/>
          </a:xfrm>
          <a:prstGeom prst="rect">
            <a:avLst/>
          </a:prstGeom>
          <a:solidFill>
            <a:srgbClr val="1C1A16"/>
          </a:solidFill>
          <a:ln w="9525">
            <a:solidFill>
              <a:srgbClr val="3A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97480"/>
            <a:ext cx="170078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B89A63"/>
                </a:solidFill>
                <a:latin typeface="Consolas"/>
                <a:ea typeface="Consolas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D2CDBE"/>
                </a:solidFill>
                <a:latin typeface="Microsoft YaHei"/>
                <a:ea typeface="Microsoft YaHei"/>
              </a:rPr>
              <a:t>立碑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8372"/>
                </a:solidFill>
                <a:latin typeface="Consolas"/>
                <a:ea typeface="Consolas"/>
              </a:rPr>
              <a:t>Erect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100" b="0" i="0">
                <a:solidFill>
                  <a:srgbClr val="8A8372"/>
                </a:solidFill>
                <a:latin typeface="Microsoft YaHei"/>
                <a:ea typeface="Microsoft YaHei"/>
              </a:rPr>
              <a:t>为任何死去的数字之物立碑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7208" y="2468880"/>
            <a:ext cx="2029968" cy="2834640"/>
          </a:xfrm>
          <a:prstGeom prst="rect">
            <a:avLst/>
          </a:prstGeom>
          <a:solidFill>
            <a:srgbClr val="1C1A16"/>
          </a:solidFill>
          <a:ln w="9525">
            <a:solidFill>
              <a:srgbClr val="3A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2697480"/>
            <a:ext cx="170078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B89A63"/>
                </a:solidFill>
                <a:latin typeface="Consolas"/>
                <a:ea typeface="Consolas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D2CDBE"/>
                </a:solidFill>
                <a:latin typeface="Microsoft YaHei"/>
                <a:ea typeface="Microsoft YaHei"/>
              </a:rPr>
              <a:t>风化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8372"/>
                </a:solidFill>
                <a:latin typeface="Consolas"/>
                <a:ea typeface="Consolas"/>
              </a:rPr>
              <a:t>Decay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100" b="0" i="0">
                <a:solidFill>
                  <a:srgbClr val="8A8372"/>
                </a:solidFill>
                <a:latin typeface="Microsoft YaHei"/>
                <a:ea typeface="Microsoft YaHei"/>
              </a:rPr>
              <a:t>按真实时间持续衰变，含随机扰动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65776" y="2468880"/>
            <a:ext cx="2029968" cy="2834640"/>
          </a:xfrm>
          <a:prstGeom prst="rect">
            <a:avLst/>
          </a:prstGeom>
          <a:solidFill>
            <a:srgbClr val="1C1A16"/>
          </a:solidFill>
          <a:ln w="9525">
            <a:solidFill>
              <a:srgbClr val="3A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0368" y="2697480"/>
            <a:ext cx="170078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B89A63"/>
                </a:solidFill>
                <a:latin typeface="Consolas"/>
                <a:ea typeface="Consolas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D2CDBE"/>
                </a:solidFill>
                <a:latin typeface="Microsoft YaHei"/>
                <a:ea typeface="Microsoft YaHei"/>
              </a:rPr>
              <a:t>擦拭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8372"/>
                </a:solidFill>
                <a:latin typeface="Consolas"/>
                <a:ea typeface="Consolas"/>
              </a:rPr>
              <a:t>Delay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100" b="0" i="0">
                <a:solidFill>
                  <a:srgbClr val="8A8372"/>
                </a:solidFill>
                <a:latin typeface="Microsoft YaHei"/>
                <a:ea typeface="Microsoft YaHei"/>
              </a:rPr>
              <a:t>每天一次，越到后期越无力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24344" y="2468880"/>
            <a:ext cx="2029968" cy="2834640"/>
          </a:xfrm>
          <a:prstGeom prst="rect">
            <a:avLst/>
          </a:prstGeom>
          <a:solidFill>
            <a:srgbClr val="1C1A16"/>
          </a:solidFill>
          <a:ln w="9525">
            <a:solidFill>
              <a:srgbClr val="3A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88936" y="2697480"/>
            <a:ext cx="170078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B89A63"/>
                </a:solidFill>
                <a:latin typeface="Consolas"/>
                <a:ea typeface="Consolas"/>
              </a:rPr>
              <a:t>4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D2CDBE"/>
                </a:solidFill>
                <a:latin typeface="Microsoft YaHei"/>
                <a:ea typeface="Microsoft YaHei"/>
              </a:rPr>
              <a:t>寂灭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8372"/>
                </a:solidFill>
                <a:latin typeface="Consolas"/>
                <a:ea typeface="Consolas"/>
              </a:rPr>
              <a:t>Vanish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100" b="0" i="0">
                <a:solidFill>
                  <a:srgbClr val="8A8372"/>
                </a:solidFill>
                <a:latin typeface="Microsoft YaHei"/>
                <a:ea typeface="Microsoft YaHei"/>
              </a:rPr>
              <a:t>碑体崩塌，生成唯一消逝凭证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82912" y="2468880"/>
            <a:ext cx="2029968" cy="2834640"/>
          </a:xfrm>
          <a:prstGeom prst="rect">
            <a:avLst/>
          </a:prstGeom>
          <a:solidFill>
            <a:srgbClr val="1C1A16"/>
          </a:solidFill>
          <a:ln w="9525">
            <a:solidFill>
              <a:srgbClr val="B89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47504" y="2697480"/>
            <a:ext cx="170078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B89A63"/>
                </a:solidFill>
                <a:latin typeface="Consolas"/>
                <a:ea typeface="Consolas"/>
              </a:rPr>
              <a:t>5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D2CDBE"/>
                </a:solidFill>
                <a:latin typeface="Microsoft YaHei"/>
                <a:ea typeface="Microsoft YaHei"/>
              </a:rPr>
              <a:t>遗忘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8372"/>
                </a:solidFill>
                <a:latin typeface="Consolas"/>
                <a:ea typeface="Consolas"/>
              </a:rPr>
              <a:t>Forget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100" b="0" i="0">
                <a:solidFill>
                  <a:srgbClr val="8A8372"/>
                </a:solidFill>
                <a:latin typeface="Microsoft YaHei"/>
                <a:ea typeface="Microsoft YaHei"/>
              </a:rPr>
              <a:t>凭证继续熵增，终从档案消失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564A"/>
                </a:solidFill>
                <a:latin typeface="Consolas"/>
                <a:ea typeface="Consolas"/>
              </a:rPr>
              <a:t>熵逝碑林 · Entropy Epitaph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008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564A"/>
                </a:solidFill>
                <a:latin typeface="Consolas"/>
                <a:ea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F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50800"/>
          </a:xfrm>
          <a:prstGeom prst="rect">
            <a:avLst/>
          </a:prstGeom>
          <a:solidFill>
            <a:srgbClr val="B89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89A63"/>
                </a:solidFill>
                <a:latin typeface="Consolas"/>
                <a:ea typeface="Consolas"/>
              </a:rPr>
              <a:t>04  DECAY · 文字墓碑的演化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D2CDBE"/>
                </a:solidFill>
                <a:latin typeface="Microsoft YaHei"/>
                <a:ea typeface="Microsoft YaHei"/>
              </a:rPr>
              <a:t>同一段话，五个阶段，逐字腐烂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 i="0">
                <a:solidFill>
                  <a:srgbClr val="8A8372"/>
                </a:solidFill>
                <a:latin typeface="Consolas"/>
                <a:ea typeface="Consolas"/>
              </a:rPr>
              <a:t>One sentence, five stages, rotting word by word</a:t>
            </a:r>
          </a:p>
        </p:txBody>
      </p:sp>
      <p:pic>
        <p:nvPicPr>
          <p:cNvPr id="6" name="Picture 5" descr="evo-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58758"/>
            <a:ext cx="11091672" cy="22720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5321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372"/>
                </a:solidFill>
                <a:latin typeface="Microsoft YaHei"/>
                <a:ea typeface="Microsoft YaHei"/>
              </a:rPr>
              <a:t>崭新期锐利清晰 → 风化期零星乱码 → 锈蚀期大面积噪声 → 废墟期几不可辨 → 寂灭期只剩一张凭证哈希。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00" b="0" i="0">
                <a:solidFill>
                  <a:srgbClr val="5C564A"/>
                </a:solidFill>
                <a:latin typeface="Consolas"/>
                <a:ea typeface="Consolas"/>
              </a:rPr>
              <a:t>Real product capture · ASCII 风格：字符随熵值替换为 ░▒▓╳╬█，颜色从磷光绿退成死灰。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564A"/>
                </a:solidFill>
                <a:latin typeface="Consolas"/>
                <a:ea typeface="Consolas"/>
              </a:rPr>
              <a:t>熵逝碑林 · Entropy Epitaph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008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564A"/>
                </a:solidFill>
                <a:latin typeface="Consolas"/>
                <a:ea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F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50800"/>
          </a:xfrm>
          <a:prstGeom prst="rect">
            <a:avLst/>
          </a:prstGeom>
          <a:solidFill>
            <a:srgbClr val="B89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89A63"/>
                </a:solidFill>
                <a:latin typeface="Consolas"/>
                <a:ea typeface="Consolas"/>
              </a:rPr>
              <a:t>05  DECAY · 图片墓碑的演化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D2CDBE"/>
                </a:solidFill>
                <a:latin typeface="Microsoft YaHei"/>
                <a:ea typeface="Microsoft YaHei"/>
              </a:rPr>
              <a:t>数字影像也是会风化的载体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 i="0">
                <a:solidFill>
                  <a:srgbClr val="8A8372"/>
                </a:solidFill>
                <a:latin typeface="Consolas"/>
                <a:ea typeface="Consolas"/>
              </a:rPr>
              <a:t>A digital image is a medium that rots too</a:t>
            </a:r>
          </a:p>
        </p:txBody>
      </p:sp>
      <p:pic>
        <p:nvPicPr>
          <p:cNvPr id="6" name="Picture 5" descr="evo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39608"/>
            <a:ext cx="11091672" cy="27103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5321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372"/>
                </a:solidFill>
                <a:latin typeface="Microsoft YaHei"/>
                <a:ea typeface="Microsoft YaHei"/>
              </a:rPr>
              <a:t>一张日落照：渐进像素化 + 去饱和褪色 + 通道噪声 + 透明度淡出，最终只剩灰白雪花，然后是凭证。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00" b="0" i="0">
                <a:solidFill>
                  <a:srgbClr val="5C564A"/>
                </a:solidFill>
                <a:latin typeface="Consolas"/>
                <a:ea typeface="Consolas"/>
              </a:rPr>
              <a:t>Real product capture · 不是简单模糊，而是像一张照片真的在腐烂。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564A"/>
                </a:solidFill>
                <a:latin typeface="Consolas"/>
                <a:ea typeface="Consolas"/>
              </a:rPr>
              <a:t>熵逝碑林 · Entropy Epitaph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008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564A"/>
                </a:solidFill>
                <a:latin typeface="Consolas"/>
                <a:ea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F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50800"/>
          </a:xfrm>
          <a:prstGeom prst="rect">
            <a:avLst/>
          </a:prstGeom>
          <a:solidFill>
            <a:srgbClr val="B89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89A63"/>
                </a:solidFill>
                <a:latin typeface="Consolas"/>
                <a:ea typeface="Consolas"/>
              </a:rPr>
              <a:t>06  PRODUCT · 真实产品界面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D2CDBE"/>
                </a:solidFill>
                <a:latin typeface="Microsoft YaHei"/>
                <a:ea typeface="Microsoft YaHei"/>
              </a:rPr>
              <a:t>墓园、无名墓区、落地页 —— 已上线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 i="0">
                <a:solidFill>
                  <a:srgbClr val="8A8372"/>
                </a:solidFill>
                <a:latin typeface="Consolas"/>
                <a:ea typeface="Consolas"/>
              </a:rPr>
              <a:t>Graveyard, Nameless Grounds, Landing — live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27069"/>
            <a:ext cx="3611880" cy="2626821"/>
          </a:xfrm>
          <a:prstGeom prst="rect">
            <a:avLst/>
          </a:prstGeom>
          <a:noFill/>
          <a:ln w="12700">
            <a:solidFill>
              <a:srgbClr val="3A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raveyard-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27069"/>
            <a:ext cx="3611880" cy="26268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532120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8372"/>
                </a:solidFill>
                <a:latin typeface="Consolas"/>
                <a:ea typeface="Consolas"/>
              </a:rPr>
              <a:t>我的墓园 · 图片碑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6" y="2527069"/>
            <a:ext cx="3611880" cy="2626821"/>
          </a:xfrm>
          <a:prstGeom prst="rect">
            <a:avLst/>
          </a:prstGeom>
          <a:noFill/>
          <a:ln w="12700">
            <a:solidFill>
              <a:srgbClr val="3A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ubl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2527069"/>
            <a:ext cx="3611880" cy="26268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34256" y="5532120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8372"/>
                </a:solidFill>
                <a:latin typeface="Consolas"/>
                <a:ea typeface="Consolas"/>
              </a:rPr>
              <a:t>无名墓区 · 凭吊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9872" y="2718608"/>
            <a:ext cx="3611880" cy="2243743"/>
          </a:xfrm>
          <a:prstGeom prst="rect">
            <a:avLst/>
          </a:prstGeom>
          <a:noFill/>
          <a:ln w="12700">
            <a:solidFill>
              <a:srgbClr val="3A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a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2718608"/>
            <a:ext cx="3611880" cy="22437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19872" y="5532120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8372"/>
                </a:solidFill>
                <a:latin typeface="Consolas"/>
                <a:ea typeface="Consolas"/>
              </a:rPr>
              <a:t>落地页 · 反永久保存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564A"/>
                </a:solidFill>
                <a:latin typeface="Consolas"/>
                <a:ea typeface="Consolas"/>
              </a:rPr>
              <a:t>熵逝碑林 · Entropy Epitaph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008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564A"/>
                </a:solidFill>
                <a:latin typeface="Consolas"/>
                <a:ea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F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50800"/>
          </a:xfrm>
          <a:prstGeom prst="rect">
            <a:avLst/>
          </a:prstGeom>
          <a:solidFill>
            <a:srgbClr val="B89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89A63"/>
                </a:solidFill>
                <a:latin typeface="Consolas"/>
                <a:ea typeface="Consolas"/>
              </a:rPr>
              <a:t>07  SYSTEM · 墓园体系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D2CDBE"/>
                </a:solidFill>
                <a:latin typeface="Microsoft YaHei"/>
                <a:ea typeface="Microsoft YaHei"/>
              </a:rPr>
              <a:t>从个人守墓到陌生人的凭吊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 i="0">
                <a:solidFill>
                  <a:srgbClr val="8A8372"/>
                </a:solidFill>
                <a:latin typeface="Consolas"/>
                <a:ea typeface="Consolas"/>
              </a:rPr>
              <a:t>From a private keeper to the kindness of strangers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3566160" cy="2926080"/>
          </a:xfrm>
          <a:prstGeom prst="rect">
            <a:avLst/>
          </a:prstGeom>
          <a:solidFill>
            <a:srgbClr val="1C1A16"/>
          </a:solidFill>
          <a:ln w="9525">
            <a:solidFill>
              <a:srgbClr val="3A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0175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D2CDBE"/>
                </a:solidFill>
                <a:latin typeface="Microsoft YaHei"/>
                <a:ea typeface="Microsoft YaHei"/>
              </a:rPr>
              <a:t>个人墓园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100" b="0" i="0">
                <a:solidFill>
                  <a:srgbClr val="B89A63"/>
                </a:solidFill>
                <a:latin typeface="Consolas"/>
                <a:ea typeface="Consolas"/>
              </a:rPr>
              <a:t>My Graveyard</a:t>
            </a:r>
          </a:p>
          <a:p>
            <a:pPr algn="l">
              <a:spcBef>
                <a:spcPts val="1400"/>
              </a:spcBef>
              <a:spcAft>
                <a:spcPts val="600"/>
              </a:spcAft>
            </a:pPr>
            <a:r>
              <a:rPr sz="1200" b="0" i="0">
                <a:solidFill>
                  <a:srgbClr val="8A8372"/>
                </a:solidFill>
                <a:latin typeface="Microsoft YaHei"/>
                <a:ea typeface="Microsoft YaHei"/>
              </a:rPr>
              <a:t>查看、筛选、擦拭自己的碑。每天上线，像一个守墓人。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468880"/>
            <a:ext cx="3566160" cy="2926080"/>
          </a:xfrm>
          <a:prstGeom prst="rect">
            <a:avLst/>
          </a:prstGeom>
          <a:solidFill>
            <a:srgbClr val="1C1A16"/>
          </a:solidFill>
          <a:ln w="9525">
            <a:solidFill>
              <a:srgbClr val="3A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30175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D2CDBE"/>
                </a:solidFill>
                <a:latin typeface="Microsoft YaHei"/>
                <a:ea typeface="Microsoft YaHei"/>
              </a:rPr>
              <a:t>无名墓区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100" b="0" i="0">
                <a:solidFill>
                  <a:srgbClr val="B89A63"/>
                </a:solidFill>
                <a:latin typeface="Consolas"/>
                <a:ea typeface="Consolas"/>
              </a:rPr>
              <a:t>Nameless Grounds</a:t>
            </a:r>
          </a:p>
          <a:p>
            <a:pPr algn="l">
              <a:spcBef>
                <a:spcPts val="1400"/>
              </a:spcBef>
              <a:spcAft>
                <a:spcPts val="600"/>
              </a:spcAft>
            </a:pPr>
            <a:r>
              <a:rPr sz="1200" b="0" i="0">
                <a:solidFill>
                  <a:srgbClr val="8A8372"/>
                </a:solidFill>
                <a:latin typeface="Microsoft YaHei"/>
                <a:ea typeface="Microsoft YaHei"/>
              </a:rPr>
              <a:t>匿名公开碑。陌生人可凭吊一次，不得到任何反馈——不求回报的微小善意。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468880"/>
            <a:ext cx="3566160" cy="2926080"/>
          </a:xfrm>
          <a:prstGeom prst="rect">
            <a:avLst/>
          </a:prstGeom>
          <a:solidFill>
            <a:srgbClr val="1C1A16"/>
          </a:solidFill>
          <a:ln w="9525">
            <a:solidFill>
              <a:srgbClr val="3A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743200"/>
            <a:ext cx="30175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D2CDBE"/>
                </a:solidFill>
                <a:latin typeface="Microsoft YaHei"/>
                <a:ea typeface="Microsoft YaHei"/>
              </a:rPr>
              <a:t>消逝档案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100" b="0" i="0">
                <a:solidFill>
                  <a:srgbClr val="B89A63"/>
                </a:solidFill>
                <a:latin typeface="Consolas"/>
                <a:ea typeface="Consolas"/>
              </a:rPr>
              <a:t>Extinction Archive</a:t>
            </a:r>
          </a:p>
          <a:p>
            <a:pPr algn="l">
              <a:spcBef>
                <a:spcPts val="1400"/>
              </a:spcBef>
              <a:spcAft>
                <a:spcPts val="600"/>
              </a:spcAft>
            </a:pPr>
            <a:r>
              <a:rPr sz="1200" b="0" i="0">
                <a:solidFill>
                  <a:srgbClr val="8A8372"/>
                </a:solidFill>
                <a:latin typeface="Microsoft YaHei"/>
                <a:ea typeface="Microsoft YaHei"/>
              </a:rPr>
              <a:t>只留凭证编号和时间。档案本身也逐渐丢页，最终连「消失过」也被忘记。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564A"/>
                </a:solidFill>
                <a:latin typeface="Consolas"/>
                <a:ea typeface="Consolas"/>
              </a:rPr>
              <a:t>熵逝碑林 · Entropy Epitaph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008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564A"/>
                </a:solidFill>
                <a:latin typeface="Consolas"/>
                <a:ea typeface="Consolas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F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50800"/>
          </a:xfrm>
          <a:prstGeom prst="rect">
            <a:avLst/>
          </a:prstGeom>
          <a:solidFill>
            <a:srgbClr val="B89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89A63"/>
                </a:solidFill>
                <a:latin typeface="Consolas"/>
                <a:ea typeface="Consolas"/>
              </a:rPr>
              <a:t>08  ENGINEERING · 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D2CDBE"/>
                </a:solidFill>
                <a:latin typeface="Microsoft YaHei"/>
                <a:ea typeface="Microsoft YaHei"/>
              </a:rPr>
              <a:t>一套契约，两种运行模式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 i="0">
                <a:solidFill>
                  <a:srgbClr val="8A8372"/>
                </a:solidFill>
                <a:latin typeface="Consolas"/>
                <a:ea typeface="Consolas"/>
              </a:rPr>
              <a:t>One contract, two runtimes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5394960" cy="3566160"/>
          </a:xfrm>
          <a:prstGeom prst="rect">
            <a:avLst/>
          </a:prstGeom>
          <a:solidFill>
            <a:srgbClr val="1C1A16"/>
          </a:solidFill>
          <a:ln w="9525">
            <a:solidFill>
              <a:srgbClr val="3A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48463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D2CDBE"/>
                </a:solidFill>
                <a:latin typeface="Microsoft YaHei"/>
                <a:ea typeface="Microsoft YaHei"/>
              </a:rPr>
              <a:t>本地完整模式 · Local full stack</a:t>
            </a:r>
          </a:p>
          <a:p>
            <a:pPr algn="l">
              <a:spcBef>
                <a:spcPts val="700"/>
              </a:spcBef>
              <a:spcAft>
                <a:spcPts val="600"/>
              </a:spcAft>
            </a:pPr>
            <a:r>
              <a:rPr sz="1200" b="0" i="0">
                <a:solidFill>
                  <a:srgbClr val="8A8372"/>
                </a:solidFill>
                <a:latin typeface="Consolas"/>
                <a:ea typeface="Consolas"/>
              </a:rPr>
              <a:t>·  FastAPI · SQLAlchemy async · SQLite</a:t>
            </a:r>
          </a:p>
          <a:p>
            <a:pPr algn="l">
              <a:spcBef>
                <a:spcPts val="700"/>
              </a:spcBef>
              <a:spcAft>
                <a:spcPts val="600"/>
              </a:spcAft>
            </a:pPr>
            <a:r>
              <a:rPr sz="1200" b="0" i="0">
                <a:solidFill>
                  <a:srgbClr val="8A8372"/>
                </a:solidFill>
                <a:latin typeface="Consolas"/>
                <a:ea typeface="Consolas"/>
              </a:rPr>
              <a:t>·  APScheduler 真实时间熵增引擎</a:t>
            </a:r>
          </a:p>
          <a:p>
            <a:pPr algn="l">
              <a:spcBef>
                <a:spcPts val="700"/>
              </a:spcBef>
              <a:spcAft>
                <a:spcPts val="600"/>
              </a:spcAft>
            </a:pPr>
            <a:r>
              <a:rPr sz="1200" b="0" i="0">
                <a:solidFill>
                  <a:srgbClr val="8A8372"/>
                </a:solidFill>
                <a:latin typeface="Consolas"/>
                <a:ea typeface="Consolas"/>
              </a:rPr>
              <a:t>·  OpenAI 五环节生成 + 离线 fallback</a:t>
            </a:r>
          </a:p>
          <a:p>
            <a:pPr algn="l">
              <a:spcBef>
                <a:spcPts val="700"/>
              </a:spcBef>
              <a:spcAft>
                <a:spcPts val="600"/>
              </a:spcAft>
            </a:pPr>
            <a:r>
              <a:rPr sz="1200" b="0" i="0">
                <a:solidFill>
                  <a:srgbClr val="8A8372"/>
                </a:solidFill>
                <a:latin typeface="Consolas"/>
                <a:ea typeface="Consolas"/>
              </a:rPr>
              <a:t>·  Wayback Machine 快照查询</a:t>
            </a:r>
          </a:p>
          <a:p>
            <a:pPr algn="l">
              <a:spcBef>
                <a:spcPts val="700"/>
              </a:spcBef>
              <a:spcAft>
                <a:spcPts val="600"/>
              </a:spcAft>
            </a:pPr>
            <a:r>
              <a:rPr sz="1200" b="0" i="0">
                <a:solidFill>
                  <a:srgbClr val="8A8372"/>
                </a:solidFill>
                <a:latin typeface="Consolas"/>
                <a:ea typeface="Consolas"/>
              </a:rPr>
              <a:t>·  SHA-256 唯一消逝凭证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331720"/>
            <a:ext cx="5394960" cy="3566160"/>
          </a:xfrm>
          <a:prstGeom prst="rect">
            <a:avLst/>
          </a:prstGeom>
          <a:solidFill>
            <a:srgbClr val="1C1A16"/>
          </a:solidFill>
          <a:ln w="9525">
            <a:solidFill>
              <a:srgbClr val="B89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560320"/>
            <a:ext cx="48463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D2CDBE"/>
                </a:solidFill>
                <a:latin typeface="Microsoft YaHei"/>
                <a:ea typeface="Microsoft YaHei"/>
              </a:rPr>
              <a:t>GitHub Pages 静态模式</a:t>
            </a:r>
          </a:p>
          <a:p>
            <a:pPr algn="l">
              <a:spcBef>
                <a:spcPts val="700"/>
              </a:spcBef>
              <a:spcAft>
                <a:spcPts val="600"/>
              </a:spcAft>
            </a:pPr>
            <a:r>
              <a:rPr sz="1200" b="0" i="0">
                <a:solidFill>
                  <a:srgbClr val="8A8372"/>
                </a:solidFill>
                <a:latin typeface="Consolas"/>
                <a:ea typeface="Consolas"/>
              </a:rPr>
              <a:t>·  Vanilla JS + Vite 静态托管</a:t>
            </a:r>
          </a:p>
          <a:p>
            <a:pPr algn="l">
              <a:spcBef>
                <a:spcPts val="700"/>
              </a:spcBef>
              <a:spcAft>
                <a:spcPts val="600"/>
              </a:spcAft>
            </a:pPr>
            <a:r>
              <a:rPr sz="1200" b="0" i="0">
                <a:solidFill>
                  <a:srgbClr val="8A8372"/>
                </a:solidFill>
                <a:latin typeface="Consolas"/>
                <a:ea typeface="Consolas"/>
              </a:rPr>
              <a:t>·  同一 API 契约的浏览器适配层</a:t>
            </a:r>
          </a:p>
          <a:p>
            <a:pPr algn="l">
              <a:spcBef>
                <a:spcPts val="700"/>
              </a:spcBef>
              <a:spcAft>
                <a:spcPts val="600"/>
              </a:spcAft>
            </a:pPr>
            <a:r>
              <a:rPr sz="1200" b="0" i="0">
                <a:solidFill>
                  <a:srgbClr val="8A8372"/>
                </a:solidFill>
                <a:latin typeface="Consolas"/>
                <a:ea typeface="Consolas"/>
              </a:rPr>
              <a:t>·  localStorage 持久化访客操作</a:t>
            </a:r>
          </a:p>
          <a:p>
            <a:pPr algn="l">
              <a:spcBef>
                <a:spcPts val="700"/>
              </a:spcBef>
              <a:spcAft>
                <a:spcPts val="600"/>
              </a:spcAft>
            </a:pPr>
            <a:r>
              <a:rPr sz="1200" b="0" i="0">
                <a:solidFill>
                  <a:srgbClr val="8A8372"/>
                </a:solidFill>
                <a:latin typeface="Consolas"/>
                <a:ea typeface="Consolas"/>
              </a:rPr>
              <a:t>·  125 条可复现演示数据 fixture</a:t>
            </a:r>
          </a:p>
          <a:p>
            <a:pPr algn="l">
              <a:spcBef>
                <a:spcPts val="700"/>
              </a:spcBef>
              <a:spcAft>
                <a:spcPts val="600"/>
              </a:spcAft>
            </a:pPr>
            <a:r>
              <a:rPr sz="1200" b="0" i="0">
                <a:solidFill>
                  <a:srgbClr val="8A8372"/>
                </a:solidFill>
                <a:latin typeface="Consolas"/>
                <a:ea typeface="Consolas"/>
              </a:rPr>
              <a:t>·  CI + Pages 自动部署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564A"/>
                </a:solidFill>
                <a:latin typeface="Consolas"/>
                <a:ea typeface="Consolas"/>
              </a:rPr>
              <a:t>熵逝碑林 · Entropy Epitaph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008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564A"/>
                </a:solidFill>
                <a:latin typeface="Consolas"/>
                <a:ea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F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50800"/>
          </a:xfrm>
          <a:prstGeom prst="rect">
            <a:avLst/>
          </a:prstGeom>
          <a:solidFill>
            <a:srgbClr val="B89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89A63"/>
                </a:solidFill>
                <a:latin typeface="Consolas"/>
                <a:ea typeface="Consolas"/>
              </a:rPr>
              <a:t>09  DEMO · 演示数据与现场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D2CDBE"/>
                </a:solidFill>
                <a:latin typeface="Microsoft YaHei"/>
                <a:ea typeface="Microsoft YaHei"/>
              </a:rPr>
              <a:t>125 块碑，均衡覆盖，开箱即演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 i="0">
                <a:solidFill>
                  <a:srgbClr val="8A8372"/>
                </a:solidFill>
                <a:latin typeface="Consolas"/>
                <a:ea typeface="Consolas"/>
              </a:rPr>
              <a:t>125 monuments, balanced coverage, ready to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950976" cy="1371600"/>
          </a:xfrm>
          <a:prstGeom prst="rect">
            <a:avLst/>
          </a:prstGeom>
          <a:solidFill>
            <a:srgbClr val="1C1A16"/>
          </a:solidFill>
          <a:ln w="9525">
            <a:solidFill>
              <a:srgbClr val="3A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95097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B89A63"/>
                </a:solidFill>
                <a:latin typeface="Consolas"/>
                <a:ea typeface="Consolas"/>
              </a:rPr>
              <a:t>125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900" b="0" i="0">
                <a:solidFill>
                  <a:srgbClr val="8A8372"/>
                </a:solidFill>
                <a:latin typeface="Microsoft YaHei"/>
                <a:ea typeface="Microsoft YaHei"/>
              </a:rPr>
              <a:t>总墓碑 Monuments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82496" y="2331720"/>
            <a:ext cx="950976" cy="1371600"/>
          </a:xfrm>
          <a:prstGeom prst="rect">
            <a:avLst/>
          </a:prstGeom>
          <a:solidFill>
            <a:srgbClr val="1C1A16"/>
          </a:solidFill>
          <a:ln w="9525">
            <a:solidFill>
              <a:srgbClr val="3A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82496" y="2514600"/>
            <a:ext cx="95097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B89A63"/>
                </a:solidFill>
                <a:latin typeface="Consolas"/>
                <a:ea typeface="Consolas"/>
              </a:rPr>
              <a:t>5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900" b="0" i="0">
                <a:solidFill>
                  <a:srgbClr val="8A8372"/>
                </a:solidFill>
                <a:latin typeface="Microsoft YaHei"/>
                <a:ea typeface="Microsoft YaHei"/>
              </a:rPr>
              <a:t>类型 Types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6352" y="2331720"/>
            <a:ext cx="950976" cy="1371600"/>
          </a:xfrm>
          <a:prstGeom prst="rect">
            <a:avLst/>
          </a:prstGeom>
          <a:solidFill>
            <a:srgbClr val="1C1A16"/>
          </a:solidFill>
          <a:ln w="9525">
            <a:solidFill>
              <a:srgbClr val="3A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2514600"/>
            <a:ext cx="95097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B89A63"/>
                </a:solidFill>
                <a:latin typeface="Consolas"/>
                <a:ea typeface="Consolas"/>
              </a:rPr>
              <a:t>5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900" b="0" i="0">
                <a:solidFill>
                  <a:srgbClr val="8A8372"/>
                </a:solidFill>
                <a:latin typeface="Microsoft YaHei"/>
                <a:ea typeface="Microsoft YaHei"/>
              </a:rPr>
              <a:t>阶段 Stages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50208" y="2331720"/>
            <a:ext cx="950976" cy="1371600"/>
          </a:xfrm>
          <a:prstGeom prst="rect">
            <a:avLst/>
          </a:prstGeom>
          <a:solidFill>
            <a:srgbClr val="1C1A16"/>
          </a:solidFill>
          <a:ln w="9525">
            <a:solidFill>
              <a:srgbClr val="3A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0208" y="2514600"/>
            <a:ext cx="95097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B89A63"/>
                </a:solidFill>
                <a:latin typeface="Consolas"/>
                <a:ea typeface="Consolas"/>
              </a:rPr>
              <a:t>3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900" b="0" i="0">
                <a:solidFill>
                  <a:srgbClr val="8A8372"/>
                </a:solidFill>
                <a:latin typeface="Microsoft YaHei"/>
                <a:ea typeface="Microsoft YaHei"/>
              </a:rPr>
              <a:t>文字风格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4064" y="2331720"/>
            <a:ext cx="950976" cy="1371600"/>
          </a:xfrm>
          <a:prstGeom prst="rect">
            <a:avLst/>
          </a:prstGeom>
          <a:solidFill>
            <a:srgbClr val="1C1A16"/>
          </a:solidFill>
          <a:ln w="9525">
            <a:solidFill>
              <a:srgbClr val="3A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4064" y="2514600"/>
            <a:ext cx="95097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B89A63"/>
                </a:solidFill>
                <a:latin typeface="Consolas"/>
                <a:ea typeface="Consolas"/>
              </a:rPr>
              <a:t>12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900" b="0" i="0">
                <a:solidFill>
                  <a:srgbClr val="8A8372"/>
                </a:solidFill>
                <a:latin typeface="Microsoft YaHei"/>
                <a:ea typeface="Microsoft YaHei"/>
              </a:rPr>
              <a:t>消逝凭证 Certs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5486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D2CDBE"/>
                </a:solidFill>
                <a:latin typeface="Microsoft YaHei"/>
                <a:ea typeface="Microsoft YaHei"/>
              </a:rPr>
              <a:t>5 分钟现场路径: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100" b="0" i="0">
                <a:solidFill>
                  <a:srgbClr val="8A8372"/>
                </a:solidFill>
                <a:latin typeface="Microsoft YaHei"/>
                <a:ea typeface="Microsoft YaHei"/>
              </a:rPr>
              <a:t>落地页抛主张 → 浏览不同阶段的碑 → 立一块图片碑 → 开 ×720 演示模式看风化 → 擦拭高熵碑 → 见证崩塌与凭证 → 无名墓区凭吊（碑会短暂变清晰）→ 查看逐渐丢页的档案。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100" b="0" i="0">
                <a:solidFill>
                  <a:srgbClr val="4AD17A"/>
                </a:solidFill>
                <a:latin typeface="Consolas"/>
                <a:ea typeface="Consolas"/>
              </a:rPr>
              <a:t>Live:  h0ll0w-akuzr0guy.github.io/entropy-epitaph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717292"/>
            <a:ext cx="5330952" cy="3069336"/>
          </a:xfrm>
          <a:prstGeom prst="rect">
            <a:avLst/>
          </a:prstGeom>
          <a:noFill/>
          <a:ln w="12700">
            <a:solidFill>
              <a:srgbClr val="3A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rch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717292"/>
            <a:ext cx="5330952" cy="30693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09360" y="6263640"/>
            <a:ext cx="5330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8372"/>
                </a:solidFill>
                <a:latin typeface="Consolas"/>
                <a:ea typeface="Consolas"/>
              </a:rPr>
              <a:t>消逝档案 · 只剩编号、凭证号与时间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564A"/>
                </a:solidFill>
                <a:latin typeface="Consolas"/>
                <a:ea typeface="Consolas"/>
              </a:rPr>
              <a:t>熵逝碑林 · Entropy Epitaph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564A"/>
                </a:solidFill>
                <a:latin typeface="Consolas"/>
                <a:ea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F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A3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D2CDBE"/>
                </a:solidFill>
                <a:latin typeface="Microsoft YaHei"/>
                <a:ea typeface="Microsoft YaHei"/>
              </a:rPr>
              <a:t>我们不做备份，我们做告别。</a:t>
            </a:r>
          </a:p>
          <a:p>
            <a:pPr algn="l">
              <a:spcBef>
                <a:spcPts val="1400"/>
              </a:spcBef>
              <a:spcAft>
                <a:spcPts val="600"/>
              </a:spcAft>
            </a:pPr>
            <a:r>
              <a:rPr sz="2000" b="0" i="0">
                <a:solidFill>
                  <a:srgbClr val="B89A63"/>
                </a:solidFill>
                <a:latin typeface="Consolas"/>
                <a:ea typeface="Consolas"/>
              </a:rPr>
              <a:t>We don't do backups. We do goodbyes.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8A8372"/>
                </a:solidFill>
                <a:latin typeface="Consolas"/>
                <a:ea typeface="Consolas"/>
              </a:rPr>
              <a:t>熵逝碑林 · Entropy Epitaph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0" i="0">
                <a:solidFill>
                  <a:srgbClr val="8A8372"/>
                </a:solidFill>
                <a:latin typeface="Consolas"/>
                <a:ea typeface="Consolas"/>
              </a:rPr>
              <a:t>h0ll0w-akuzr0guy.github.io/entropy-epitaph   ·   github.com/h0ll0w-AkuZr0guY/entropy-epitaph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